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1e24e31-85e4-a3ed-c2de-7de98c461f0b}">
          <p14:sldIdLst>
            <p14:sldId id="256"/>
            <p14:sldId id="257"/>
            <p14:sldId id="258"/>
            <p14:sldId id="259"/>
          </p14:sldIdLst>
        </p14:section>
        <p14:section name="Methodology" id="{202e401b-5a12-1ebb-e069-95c025abed2b}">
          <p14:sldIdLst>
            <p14:sldId id="260"/>
            <p14:sldId id="261"/>
            <p14:sldId id="262"/>
          </p14:sldIdLst>
        </p14:section>
        <p14:section name="Design" id="{c5ce1ac7-cac1-2123-dc9b-cc753badb649}">
          <p14:sldIdLst>
            <p14:sldId id="263"/>
            <p14:sldId id="264"/>
            <p14:sldId id="265"/>
            <p14:sldId id="266"/>
            <p14:sldId id="267"/>
          </p14:sldIdLst>
        </p14:section>
        <p14:section name="Results" id="{d4ff2d2a-8374-5743-87fb-475b2747bc35}">
          <p14:sldIdLst>
            <p14:sldId id="268"/>
            <p14:sldId id="269"/>
            <p14:sldId id="270"/>
          </p14:sldIdLst>
        </p14:section>
        <p14:section name="Close" id="{6cc09123-2230-db42-f562-a665c3add32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organisation. One-line summary: I built an engine that reads a health-insurance claim and decides what is payable under the ReAssure 3.0 policy, using exact rules for the money and an LLM only where clinical language must be understood, with humans handling anything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ReAssure 3.0 is a feature-rich product: Classic, Select and Elite variants, riders like Borderless and Tiered Network, and features like ReAssure Forever and Lock the Clock that depend on earlier claims. Manual adjudication is slow, inconsistent and hard to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Emphasise the split: money and dates are computed exactly; the LLM only judges language; anything uncertain goes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product, policy and member validation layer. Extraction of bills and medical coding happen upstream; PAS is the final authority. The engine takes one context object and returns one decision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hybrid. A pure rule engine cannot read a discharge summary. A pure LLM can be confidently wrong and cannot be trusted with exact arithmetic. So the LLM only answers language questions, and humans take anything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methodology, the 20-mark component. Phase 1 was deliberately AI-free so the numbers could be checked by hand; AI came in Phase 2. Each rule went through the same loop: analyse the clause, encode it as data, implement, test, then read the trace. The last phase, final hardening, ran ten scenarios on the live LLM and fixed what they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one clause becomes data. The rule's exceptions go into the prompt; the dependencies place it in the DAG. Keeping rules as data means a product change ships as a new versioned JSON file, not a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React console; FastAPI with SSE streaming; the engine (product memory, planner, pipeline); the semantic agent and calculators; PostgreSQL plus the audit and telemetry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turns the rule set into an execution plan per line item. Kahn's algorithm gives a valid order; the priority queue makes it deterministic so the audit can be replayed. Independent rules at the same depth run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gate can stop the claim with a reason. Gates 1 and 2 run before anything else, so a lapsed policy is rejected immediately. Gate 6 computes the money in the order the design specifies: non-payables, room pro-rata, penalties, deductible, stacked co-pay, then the sum-insured waterfall.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is treated as an unreliable component behind a strict contract. The batching change came from final testing: Groq's free tier allows 8,000 tokens per minute and one call per exclusion rule hit the limit, sending claims to review. One batched call per line item fixed it without changing the rest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has a confidence; deterministic steps score 1.0. The weighted mean decides the queue. Automation handles clear cases and people get the rest, pre-filled with the suggested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running live: start the backend with LLM_PROVIDER=groq, open the console, choose Case 1 and click Initiate Adjudication. Point out the live trace, the waterfall and the explanation. Offline fallback: LLM_PROVIDER=mock gives the same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scenarios complete on Groq and give the same decisions as offline mode, so the LLM changed no outcome where the facts were clear. Scenario 3 shows the safety design: missing data means referral, not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defects were found by running full scenarios and reading the traces, not by assertions. Mention the pro-rata bug concretely: itemised expenses of 54,000 against a 34,000 claim gave a 40,500 deduction and a negative admissible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personal: what was hard and what you would do the same way again. The biggest lesson: decide what not to give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was delivered and what a production rollout would need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Have the console open with the backend running on Groq, and LLM_PROVIDER=mock ready as a fallback if the network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6868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03320"/>
            <a:ext cx="8686800" cy="1097280"/>
          </a:xfrm>
          <a:prstGeom prst="rect">
            <a:avLst/>
          </a:prstGeom>
          <a:noFill/>
          <a:ln/>
        </p:spPr>
        <p:txBody>
          <a:bodyPr wrap="square" rtlCol="0"/>
          <a:lstStyle>
            <a:lvl1pPr indent="0" marL="0">
              <a:buNone/>
              <a:defRPr lang="en-US" sz="2000" dirty="0">
                <a:solidFill>
                  <a:srgbClr val="CADCFC"/>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686800" cy="1737360"/>
          </a:xfrm>
          <a:prstGeom prst="rect">
            <a:avLst/>
          </a:prstGeom>
          <a:noFill/>
          <a:ln/>
        </p:spPr>
        <p:txBody>
          <a:bodyPr wrap="square" lIns="0" tIns="0" rIns="0" bIns="0" rtlCol="0" anchor="b"/>
          <a:lstStyle/>
          <a:p>
            <a:pPr algn="l" indent="0" marL="0">
              <a:buNone/>
            </a:pPr>
            <a:r>
              <a:rPr lang="en-US" sz="4400" b="1" dirty="0">
                <a:solidFill>
                  <a:schemeClr val="bg1"/>
                </a:solidFill>
              </a:rPr>
              <a:t>Claims Auto-Adjudication Engine</a:t>
            </a:r>
            <a:endParaRPr lang="en-US" sz="4400" dirty="0"/>
          </a:p>
        </p:txBody>
      </p:sp>
      <p:sp>
        <p:nvSpPr>
          <p:cNvPr id="3" name="Text 0"/>
          <p:cNvSpPr/>
          <p:nvPr>
            <p:ph idx="101" type="body" hasCustomPrompt="1"/>
          </p:nvPr>
        </p:nvSpPr>
        <p:spPr>
          <a:xfrm>
            <a:off x="548640" y="3703320"/>
            <a:ext cx="8686800" cy="1097280"/>
          </a:xfrm>
          <a:prstGeom prst="rect">
            <a:avLst/>
          </a:prstGeom>
          <a:noFill/>
          <a:ln/>
        </p:spPr>
        <p:txBody>
          <a:bodyPr wrap="square" lIns="0" tIns="0" rIns="0" bIns="0" rtlCol="0" anchor="t"/>
          <a:lstStyle/>
          <a:p>
            <a:pPr indent="0" marL="0">
              <a:buNone/>
            </a:pPr>
            <a:r>
              <a:rPr lang="en-US" sz="2000" dirty="0">
                <a:solidFill>
                  <a:srgbClr val="CADCFC"/>
                </a:solidFill>
              </a:rPr>
              <a:t>A hybrid rule-engine and LLM system for ReAssure 3.0 health claims</a:t>
            </a:r>
            <a:endParaRPr lang="en-US" sz="2000" dirty="0"/>
          </a:p>
        </p:txBody>
      </p:sp>
      <p:sp>
        <p:nvSpPr>
          <p:cNvPr id="4" name="txt-1"/>
          <p:cNvSpPr txBox="1"/>
          <p:nvPr/>
        </p:nvSpPr>
        <p:spPr>
          <a:xfrm>
            <a:off x="548640" y="5120640"/>
            <a:ext cx="9144000" cy="10058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[YOUR NAME]  ·  [ROLL NUMBER]</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Industrial training at [ORGANISATION NAME]  ·  [INTERNSHIP DATES]</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Mentor: [INDUSTRY MENTOR NAME]  ·  Guide: [FACULTY GUIDE NAME]</a:t>
            </a:r>
            <a:endParaRPr lang="en-US" sz="1400" dirty="0"/>
          </a:p>
        </p:txBody>
      </p:sp>
      <p:sp>
        <p:nvSpPr>
          <p:cNvPr id="5" name="dot-2"/>
          <p:cNvSpPr/>
          <p:nvPr/>
        </p:nvSpPr>
        <p:spPr>
          <a:xfrm>
            <a:off x="9966960" y="2103120"/>
            <a:ext cx="1554480" cy="1554480"/>
          </a:xfrm>
          <a:prstGeom prst="ellipse">
            <a:avLst/>
          </a:prstGeom>
          <a:solidFill>
            <a:schemeClr val="accent1"/>
          </a:solidFill>
          <a:ln w="12700">
            <a:solidFill>
              <a:schemeClr val="accent1"/>
            </a:solidFill>
            <a:prstDash val="solid"/>
          </a:ln>
        </p:spPr>
      </p:sp>
      <p:sp>
        <p:nvSpPr>
          <p:cNvPr id="6" name="txt-3"/>
          <p:cNvSpPr txBox="1"/>
          <p:nvPr/>
        </p:nvSpPr>
        <p:spPr>
          <a:xfrm>
            <a:off x="9966960" y="2103120"/>
            <a:ext cx="1554480" cy="1554480"/>
          </a:xfrm>
          <a:prstGeom prst="rect">
            <a:avLst/>
          </a:prstGeom>
          <a:noFill/>
          <a:ln/>
        </p:spPr>
        <p:txBody>
          <a:bodyPr wrap="square" lIns="0" tIns="0" rIns="0" bIns="0" rtlCol="0" anchor="ctr"/>
          <a:lstStyle/>
          <a:p>
            <a:pPr algn="ctr" indent="0" marL="0">
              <a:buNone/>
            </a:pPr>
            <a:r>
              <a:rPr lang="en-US" sz="5400" b="1" dirty="0">
                <a:solidFill>
                  <a:schemeClr val="bg1"/>
                </a:solidFill>
                <a:latin typeface="Calibri" pitchFamily="34" charset="0"/>
                <a:ea typeface="Calibri" pitchFamily="34" charset="-122"/>
                <a:cs typeface="Calibri" pitchFamily="34" charset="-120"/>
              </a:rPr>
              <a:t>7</a:t>
            </a:r>
            <a:endParaRPr lang="en-US" sz="5400" dirty="0"/>
          </a:p>
        </p:txBody>
      </p:sp>
      <p:sp>
        <p:nvSpPr>
          <p:cNvPr id="7" name="txt-4"/>
          <p:cNvSpPr txBox="1"/>
          <p:nvPr/>
        </p:nvSpPr>
        <p:spPr>
          <a:xfrm>
            <a:off x="9966960" y="3703320"/>
            <a:ext cx="1554480" cy="36576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gates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claims need automating</a:t>
            </a:r>
            <a:endParaRPr lang="en-US" sz="3200" dirty="0"/>
          </a:p>
        </p:txBody>
      </p:sp>
      <p:sp>
        <p:nvSpPr>
          <p:cNvPr id="3" name="txt-5"/>
          <p:cNvSpPr txBox="1"/>
          <p:nvPr/>
        </p:nvSpPr>
        <p:spPr>
          <a:xfrm>
            <a:off x="548640" y="1417320"/>
            <a:ext cx="329184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2,600+</a:t>
            </a:r>
            <a:endParaRPr lang="en-US" sz="4800" dirty="0"/>
          </a:p>
        </p:txBody>
      </p:sp>
      <p:sp>
        <p:nvSpPr>
          <p:cNvPr id="4" name="txt-6"/>
          <p:cNvSpPr txBox="1"/>
          <p:nvPr/>
        </p:nvSpPr>
        <p:spPr>
          <a:xfrm>
            <a:off x="548640" y="2286000"/>
            <a:ext cx="32918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lines of policy wording a processor must apply correctly</a:t>
            </a:r>
            <a:endParaRPr lang="en-US" sz="1400" dirty="0"/>
          </a:p>
        </p:txBody>
      </p:sp>
      <p:sp>
        <p:nvSpPr>
          <p:cNvPr id="5" name="txt-7"/>
          <p:cNvSpPr txBox="1"/>
          <p:nvPr/>
        </p:nvSpPr>
        <p:spPr>
          <a:xfrm>
            <a:off x="4297680" y="1417320"/>
            <a:ext cx="32918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92</a:t>
            </a:r>
            <a:endParaRPr lang="en-US" sz="4800" dirty="0"/>
          </a:p>
        </p:txBody>
      </p:sp>
      <p:sp>
        <p:nvSpPr>
          <p:cNvPr id="6" name="txt-8"/>
          <p:cNvSpPr txBox="1"/>
          <p:nvPr/>
        </p:nvSpPr>
        <p:spPr>
          <a:xfrm>
            <a:off x="4297680" y="2286000"/>
            <a:ext cx="32918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product rules across covers, exclusions, waiting periods and money</a:t>
            </a:r>
            <a:endParaRPr lang="en-US" sz="1400" dirty="0"/>
          </a:p>
        </p:txBody>
      </p:sp>
      <p:sp>
        <p:nvSpPr>
          <p:cNvPr id="7" name="txt-9"/>
          <p:cNvSpPr txBox="1"/>
          <p:nvPr/>
        </p:nvSpPr>
        <p:spPr>
          <a:xfrm>
            <a:off x="8046720" y="1417320"/>
            <a:ext cx="3291840" cy="86868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3 + 7</a:t>
            </a:r>
            <a:endParaRPr lang="en-US" sz="4800" dirty="0"/>
          </a:p>
        </p:txBody>
      </p:sp>
      <p:sp>
        <p:nvSpPr>
          <p:cNvPr id="8" name="txt-10"/>
          <p:cNvSpPr txBox="1"/>
          <p:nvPr/>
        </p:nvSpPr>
        <p:spPr>
          <a:xfrm>
            <a:off x="8046720" y="2286000"/>
            <a:ext cx="32918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variants and optional covers, plus lifetime features that carry state between claims</a:t>
            </a:r>
            <a:endParaRPr lang="en-US" sz="1400" dirty="0"/>
          </a:p>
        </p:txBody>
      </p:sp>
      <p:sp>
        <p:nvSpPr>
          <p:cNvPr id="9" name="card-11"/>
          <p:cNvSpPr/>
          <p:nvPr/>
        </p:nvSpPr>
        <p:spPr>
          <a:xfrm>
            <a:off x="548640" y="3657600"/>
            <a:ext cx="11094415" cy="2377440"/>
          </a:xfrm>
          <a:prstGeom prst="roundRect">
            <a:avLst>
              <a:gd name="adj" fmla="val 4615"/>
            </a:avLst>
          </a:prstGeom>
          <a:solidFill>
            <a:schemeClr val="bg2"/>
          </a:solidFill>
          <a:ln w="12700">
            <a:solidFill>
              <a:schemeClr val="bg2"/>
            </a:solidFill>
            <a:prstDash val="solid"/>
          </a:ln>
        </p:spPr>
      </p:sp>
      <p:sp>
        <p:nvSpPr>
          <p:cNvPr id="10" name="txt-12"/>
          <p:cNvSpPr txBox="1"/>
          <p:nvPr/>
        </p:nvSpPr>
        <p:spPr>
          <a:xfrm>
            <a:off x="822960" y="3794760"/>
            <a:ext cx="10545775" cy="2103120"/>
          </a:xfrm>
          <a:prstGeom prst="rect">
            <a:avLst/>
          </a:prstGeom>
          <a:noFill/>
          <a:ln/>
        </p:spPr>
        <p:txBody>
          <a:bodyPr wrap="square" rtlCol="0" anchor="t"/>
          <a:lstStyle/>
          <a:p>
            <a:pPr indent="0" marL="0">
              <a:spcAft>
                <a:spcPts val="600"/>
              </a:spcAft>
              <a:buNone/>
            </a:pPr>
            <a:r>
              <a:rPr lang="en-US" sz="1800" b="1" dirty="0">
                <a:solidFill>
                  <a:schemeClr val="tx2"/>
                </a:solidFill>
                <a:latin typeface="Calibri" pitchFamily="34" charset="0"/>
                <a:ea typeface="Calibri" pitchFamily="34" charset="-122"/>
                <a:cs typeface="Calibri" pitchFamily="34" charset="-120"/>
              </a:rPr>
              <a:t>Today a processor reads each claim against the wording by hand</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Slow: tight regulatory timelines for cashless decisions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Inconsistent: two processors can decide the same claim differently</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Hard to explain: reasons are not recorded step by step</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Error-prone arithmetic: pro-rata, stacked co-pays, waterfalls across three SI pools</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 set out to build</a:t>
            </a:r>
            <a:endParaRPr lang="en-US" sz="3200" dirty="0"/>
          </a:p>
        </p:txBody>
      </p:sp>
      <p:sp>
        <p:nvSpPr>
          <p:cNvPr id="3" name="card-13"/>
          <p:cNvSpPr/>
          <p:nvPr/>
        </p:nvSpPr>
        <p:spPr>
          <a:xfrm>
            <a:off x="548640" y="1417320"/>
            <a:ext cx="3474720" cy="2103120"/>
          </a:xfrm>
          <a:prstGeom prst="roundRect">
            <a:avLst>
              <a:gd name="adj" fmla="val 5217"/>
            </a:avLst>
          </a:prstGeom>
          <a:solidFill>
            <a:schemeClr val="bg2"/>
          </a:solidFill>
          <a:ln w="12700">
            <a:solidFill>
              <a:schemeClr val="bg2"/>
            </a:solidFill>
            <a:prstDash val="solid"/>
          </a:ln>
        </p:spPr>
      </p:sp>
      <p:sp>
        <p:nvSpPr>
          <p:cNvPr id="4" name="dot-14"/>
          <p:cNvSpPr/>
          <p:nvPr/>
        </p:nvSpPr>
        <p:spPr>
          <a:xfrm>
            <a:off x="822960" y="1691640"/>
            <a:ext cx="640080" cy="640080"/>
          </a:xfrm>
          <a:prstGeom prst="ellipse">
            <a:avLst/>
          </a:prstGeom>
          <a:solidFill>
            <a:schemeClr val="accent1"/>
          </a:solidFill>
          <a:ln w="12700">
            <a:solidFill>
              <a:schemeClr val="accent1"/>
            </a:solidFill>
            <a:prstDash val="solid"/>
          </a:ln>
        </p:spPr>
      </p:sp>
      <p:sp>
        <p:nvSpPr>
          <p:cNvPr id="5" name="txt-15"/>
          <p:cNvSpPr txBox="1"/>
          <p:nvPr/>
        </p:nvSpPr>
        <p:spPr>
          <a:xfrm>
            <a:off x="82296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xt-16"/>
          <p:cNvSpPr txBox="1"/>
          <p:nvPr/>
        </p:nvSpPr>
        <p:spPr>
          <a:xfrm>
            <a:off x="822960" y="2423160"/>
            <a:ext cx="29260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Rules as data</a:t>
            </a:r>
            <a:endParaRPr lang="en-US" sz="1800" dirty="0"/>
          </a:p>
        </p:txBody>
      </p:sp>
      <p:sp>
        <p:nvSpPr>
          <p:cNvPr id="7" name="txt-17"/>
          <p:cNvSpPr txBox="1"/>
          <p:nvPr/>
        </p:nvSpPr>
        <p:spPr>
          <a:xfrm>
            <a:off x="822960" y="2834640"/>
            <a:ext cx="2926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Encode the policy wording as 92 versioned rule blueprints</a:t>
            </a:r>
            <a:endParaRPr lang="en-US" sz="1400" dirty="0"/>
          </a:p>
        </p:txBody>
      </p:sp>
      <p:sp>
        <p:nvSpPr>
          <p:cNvPr id="8" name="card-18"/>
          <p:cNvSpPr/>
          <p:nvPr/>
        </p:nvSpPr>
        <p:spPr>
          <a:xfrm>
            <a:off x="4297680" y="1417320"/>
            <a:ext cx="3474720" cy="2103120"/>
          </a:xfrm>
          <a:prstGeom prst="roundRect">
            <a:avLst>
              <a:gd name="adj" fmla="val 5217"/>
            </a:avLst>
          </a:prstGeom>
          <a:solidFill>
            <a:schemeClr val="bg2"/>
          </a:solidFill>
          <a:ln w="12700">
            <a:solidFill>
              <a:schemeClr val="bg2"/>
            </a:solidFill>
            <a:prstDash val="solid"/>
          </a:ln>
        </p:spPr>
      </p:sp>
      <p:sp>
        <p:nvSpPr>
          <p:cNvPr id="9" name="dot-19"/>
          <p:cNvSpPr/>
          <p:nvPr/>
        </p:nvSpPr>
        <p:spPr>
          <a:xfrm>
            <a:off x="4572000" y="1691640"/>
            <a:ext cx="640080" cy="640080"/>
          </a:xfrm>
          <a:prstGeom prst="ellipse">
            <a:avLst/>
          </a:prstGeom>
          <a:solidFill>
            <a:schemeClr val="accent2"/>
          </a:solidFill>
          <a:ln w="12700">
            <a:solidFill>
              <a:schemeClr val="accent2"/>
            </a:solidFill>
            <a:prstDash val="solid"/>
          </a:ln>
        </p:spPr>
      </p:sp>
      <p:sp>
        <p:nvSpPr>
          <p:cNvPr id="10" name="txt-20"/>
          <p:cNvSpPr txBox="1"/>
          <p:nvPr/>
        </p:nvSpPr>
        <p:spPr>
          <a:xfrm>
            <a:off x="457200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1" name="txt-21"/>
          <p:cNvSpPr txBox="1"/>
          <p:nvPr/>
        </p:nvSpPr>
        <p:spPr>
          <a:xfrm>
            <a:off x="4572000" y="2423160"/>
            <a:ext cx="29260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Exact money</a:t>
            </a:r>
            <a:endParaRPr lang="en-US" sz="1800" dirty="0"/>
          </a:p>
        </p:txBody>
      </p:sp>
      <p:sp>
        <p:nvSpPr>
          <p:cNvPr id="12" name="txt-22"/>
          <p:cNvSpPr txBox="1"/>
          <p:nvPr/>
        </p:nvSpPr>
        <p:spPr>
          <a:xfrm>
            <a:off x="4572000" y="2834640"/>
            <a:ext cx="2926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Deterministic, property-tested calculators for every rupee</a:t>
            </a:r>
            <a:endParaRPr lang="en-US" sz="1400" dirty="0"/>
          </a:p>
        </p:txBody>
      </p:sp>
      <p:sp>
        <p:nvSpPr>
          <p:cNvPr id="13" name="card-23"/>
          <p:cNvSpPr/>
          <p:nvPr/>
        </p:nvSpPr>
        <p:spPr>
          <a:xfrm>
            <a:off x="8046720" y="1417320"/>
            <a:ext cx="3474720" cy="2103120"/>
          </a:xfrm>
          <a:prstGeom prst="roundRect">
            <a:avLst>
              <a:gd name="adj" fmla="val 5217"/>
            </a:avLst>
          </a:prstGeom>
          <a:solidFill>
            <a:schemeClr val="bg2"/>
          </a:solidFill>
          <a:ln w="12700">
            <a:solidFill>
              <a:schemeClr val="bg2"/>
            </a:solidFill>
            <a:prstDash val="solid"/>
          </a:ln>
        </p:spPr>
      </p:sp>
      <p:sp>
        <p:nvSpPr>
          <p:cNvPr id="14" name="dot-24"/>
          <p:cNvSpPr/>
          <p:nvPr/>
        </p:nvSpPr>
        <p:spPr>
          <a:xfrm>
            <a:off x="8321040" y="1691640"/>
            <a:ext cx="640080" cy="640080"/>
          </a:xfrm>
          <a:prstGeom prst="ellipse">
            <a:avLst/>
          </a:prstGeom>
          <a:solidFill>
            <a:schemeClr val="accent1"/>
          </a:solidFill>
          <a:ln w="12700">
            <a:solidFill>
              <a:schemeClr val="accent1"/>
            </a:solidFill>
            <a:prstDash val="solid"/>
          </a:ln>
        </p:spPr>
      </p:sp>
      <p:sp>
        <p:nvSpPr>
          <p:cNvPr id="15" name="txt-25"/>
          <p:cNvSpPr txBox="1"/>
          <p:nvPr/>
        </p:nvSpPr>
        <p:spPr>
          <a:xfrm>
            <a:off x="832104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6" name="txt-26"/>
          <p:cNvSpPr txBox="1"/>
          <p:nvPr/>
        </p:nvSpPr>
        <p:spPr>
          <a:xfrm>
            <a:off x="8321040" y="2423160"/>
            <a:ext cx="29260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LLM for language</a:t>
            </a:r>
            <a:endParaRPr lang="en-US" sz="1800" dirty="0"/>
          </a:p>
        </p:txBody>
      </p:sp>
      <p:sp>
        <p:nvSpPr>
          <p:cNvPr id="17" name="txt-27"/>
          <p:cNvSpPr txBox="1"/>
          <p:nvPr/>
        </p:nvSpPr>
        <p:spPr>
          <a:xfrm>
            <a:off x="8321040" y="2834640"/>
            <a:ext cx="2926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Clinical judgement only, with validated JSON output</a:t>
            </a:r>
            <a:endParaRPr lang="en-US" sz="1400" dirty="0"/>
          </a:p>
        </p:txBody>
      </p:sp>
      <p:sp>
        <p:nvSpPr>
          <p:cNvPr id="18" name="card-28"/>
          <p:cNvSpPr/>
          <p:nvPr/>
        </p:nvSpPr>
        <p:spPr>
          <a:xfrm>
            <a:off x="548640" y="3794760"/>
            <a:ext cx="3474720" cy="2103120"/>
          </a:xfrm>
          <a:prstGeom prst="roundRect">
            <a:avLst>
              <a:gd name="adj" fmla="val 5217"/>
            </a:avLst>
          </a:prstGeom>
          <a:solidFill>
            <a:schemeClr val="bg2"/>
          </a:solidFill>
          <a:ln w="12700">
            <a:solidFill>
              <a:schemeClr val="bg2"/>
            </a:solidFill>
            <a:prstDash val="solid"/>
          </a:ln>
        </p:spPr>
      </p:sp>
      <p:sp>
        <p:nvSpPr>
          <p:cNvPr id="19" name="dot-29"/>
          <p:cNvSpPr/>
          <p:nvPr/>
        </p:nvSpPr>
        <p:spPr>
          <a:xfrm>
            <a:off x="822960" y="4069080"/>
            <a:ext cx="640080" cy="640080"/>
          </a:xfrm>
          <a:prstGeom prst="ellipse">
            <a:avLst/>
          </a:prstGeom>
          <a:solidFill>
            <a:schemeClr val="accent2"/>
          </a:solidFill>
          <a:ln w="12700">
            <a:solidFill>
              <a:schemeClr val="accent2"/>
            </a:solidFill>
            <a:prstDash val="solid"/>
          </a:ln>
        </p:spPr>
      </p:sp>
      <p:sp>
        <p:nvSpPr>
          <p:cNvPr id="20" name="txt-30"/>
          <p:cNvSpPr txBox="1"/>
          <p:nvPr/>
        </p:nvSpPr>
        <p:spPr>
          <a:xfrm>
            <a:off x="822960" y="4069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1" name="txt-31"/>
          <p:cNvSpPr txBox="1"/>
          <p:nvPr/>
        </p:nvSpPr>
        <p:spPr>
          <a:xfrm>
            <a:off x="822960" y="4800600"/>
            <a:ext cx="29260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Safe routing</a:t>
            </a:r>
            <a:endParaRPr lang="en-US" sz="1800" dirty="0"/>
          </a:p>
        </p:txBody>
      </p:sp>
      <p:sp>
        <p:nvSpPr>
          <p:cNvPr id="22" name="txt-32"/>
          <p:cNvSpPr txBox="1"/>
          <p:nvPr/>
        </p:nvSpPr>
        <p:spPr>
          <a:xfrm>
            <a:off x="822960" y="5212080"/>
            <a:ext cx="2926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Uncertain or incomplete claims go to the right human queue</a:t>
            </a:r>
            <a:endParaRPr lang="en-US" sz="1400" dirty="0"/>
          </a:p>
        </p:txBody>
      </p:sp>
      <p:sp>
        <p:nvSpPr>
          <p:cNvPr id="23" name="card-33"/>
          <p:cNvSpPr/>
          <p:nvPr/>
        </p:nvSpPr>
        <p:spPr>
          <a:xfrm>
            <a:off x="4297680" y="3794760"/>
            <a:ext cx="3474720" cy="2103120"/>
          </a:xfrm>
          <a:prstGeom prst="roundRect">
            <a:avLst>
              <a:gd name="adj" fmla="val 5217"/>
            </a:avLst>
          </a:prstGeom>
          <a:solidFill>
            <a:schemeClr val="bg2"/>
          </a:solidFill>
          <a:ln w="12700">
            <a:solidFill>
              <a:schemeClr val="bg2"/>
            </a:solidFill>
            <a:prstDash val="solid"/>
          </a:ln>
        </p:spPr>
      </p:sp>
      <p:sp>
        <p:nvSpPr>
          <p:cNvPr id="24" name="dot-34"/>
          <p:cNvSpPr/>
          <p:nvPr/>
        </p:nvSpPr>
        <p:spPr>
          <a:xfrm>
            <a:off x="4572000" y="4069080"/>
            <a:ext cx="640080" cy="640080"/>
          </a:xfrm>
          <a:prstGeom prst="ellipse">
            <a:avLst/>
          </a:prstGeom>
          <a:solidFill>
            <a:schemeClr val="accent1"/>
          </a:solidFill>
          <a:ln w="12700">
            <a:solidFill>
              <a:schemeClr val="accent1"/>
            </a:solidFill>
            <a:prstDash val="solid"/>
          </a:ln>
        </p:spPr>
      </p:sp>
      <p:sp>
        <p:nvSpPr>
          <p:cNvPr id="25" name="txt-35"/>
          <p:cNvSpPr txBox="1"/>
          <p:nvPr/>
        </p:nvSpPr>
        <p:spPr>
          <a:xfrm>
            <a:off x="4572000" y="4069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26" name="txt-36"/>
          <p:cNvSpPr txBox="1"/>
          <p:nvPr/>
        </p:nvSpPr>
        <p:spPr>
          <a:xfrm>
            <a:off x="4572000" y="4800600"/>
            <a:ext cx="29260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Full audit trail</a:t>
            </a:r>
            <a:endParaRPr lang="en-US" sz="1800" dirty="0"/>
          </a:p>
        </p:txBody>
      </p:sp>
      <p:sp>
        <p:nvSpPr>
          <p:cNvPr id="27" name="txt-37"/>
          <p:cNvSpPr txBox="1"/>
          <p:nvPr/>
        </p:nvSpPr>
        <p:spPr>
          <a:xfrm>
            <a:off x="4572000" y="5212080"/>
            <a:ext cx="2926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Every rule, tool call, prompt and reply recorded</a:t>
            </a:r>
            <a:endParaRPr lang="en-US" sz="1400" dirty="0"/>
          </a:p>
        </p:txBody>
      </p:sp>
      <p:sp>
        <p:nvSpPr>
          <p:cNvPr id="28" name="card-38"/>
          <p:cNvSpPr/>
          <p:nvPr/>
        </p:nvSpPr>
        <p:spPr>
          <a:xfrm>
            <a:off x="8046720" y="3794760"/>
            <a:ext cx="3474720" cy="2103120"/>
          </a:xfrm>
          <a:prstGeom prst="roundRect">
            <a:avLst>
              <a:gd name="adj" fmla="val 5217"/>
            </a:avLst>
          </a:prstGeom>
          <a:solidFill>
            <a:schemeClr val="bg2"/>
          </a:solidFill>
          <a:ln w="12700">
            <a:solidFill>
              <a:schemeClr val="bg2"/>
            </a:solidFill>
            <a:prstDash val="solid"/>
          </a:ln>
        </p:spPr>
      </p:sp>
      <p:sp>
        <p:nvSpPr>
          <p:cNvPr id="29" name="dot-39"/>
          <p:cNvSpPr/>
          <p:nvPr/>
        </p:nvSpPr>
        <p:spPr>
          <a:xfrm>
            <a:off x="8321040" y="4069080"/>
            <a:ext cx="640080" cy="640080"/>
          </a:xfrm>
          <a:prstGeom prst="ellipse">
            <a:avLst/>
          </a:prstGeom>
          <a:solidFill>
            <a:schemeClr val="accent2"/>
          </a:solidFill>
          <a:ln w="12700">
            <a:solidFill>
              <a:schemeClr val="accent2"/>
            </a:solidFill>
            <a:prstDash val="solid"/>
          </a:ln>
        </p:spPr>
      </p:sp>
      <p:sp>
        <p:nvSpPr>
          <p:cNvPr id="30" name="txt-40"/>
          <p:cNvSpPr txBox="1"/>
          <p:nvPr/>
        </p:nvSpPr>
        <p:spPr>
          <a:xfrm>
            <a:off x="8321040" y="4069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6</a:t>
            </a:r>
            <a:endParaRPr lang="en-US" sz="2000" dirty="0"/>
          </a:p>
        </p:txBody>
      </p:sp>
      <p:sp>
        <p:nvSpPr>
          <p:cNvPr id="31" name="txt-41"/>
          <p:cNvSpPr txBox="1"/>
          <p:nvPr/>
        </p:nvSpPr>
        <p:spPr>
          <a:xfrm>
            <a:off x="8321040" y="4800600"/>
            <a:ext cx="29260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Usable product</a:t>
            </a:r>
            <a:endParaRPr lang="en-US" sz="1800" dirty="0"/>
          </a:p>
        </p:txBody>
      </p:sp>
      <p:sp>
        <p:nvSpPr>
          <p:cNvPr id="32" name="txt-42"/>
          <p:cNvSpPr txBox="1"/>
          <p:nvPr/>
        </p:nvSpPr>
        <p:spPr>
          <a:xfrm>
            <a:off x="8321040" y="5212080"/>
            <a:ext cx="292608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Streaming API and a console a claims team can demo</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Where the engine sits in a claim's life</a:t>
            </a:r>
            <a:endParaRPr lang="en-US" sz="3200" dirty="0"/>
          </a:p>
        </p:txBody>
      </p:sp>
      <p:sp>
        <p:nvSpPr>
          <p:cNvPr id="3" name="card-43"/>
          <p:cNvSpPr/>
          <p:nvPr/>
        </p:nvSpPr>
        <p:spPr>
          <a:xfrm>
            <a:off x="548640" y="2011680"/>
            <a:ext cx="2514600" cy="2286000"/>
          </a:xfrm>
          <a:prstGeom prst="roundRect">
            <a:avLst>
              <a:gd name="adj" fmla="val 4800"/>
            </a:avLst>
          </a:prstGeom>
          <a:solidFill>
            <a:schemeClr val="bg2"/>
          </a:solidFill>
          <a:ln w="12700">
            <a:solidFill>
              <a:schemeClr val="bg2"/>
            </a:solidFill>
            <a:prstDash val="solid"/>
          </a:ln>
        </p:spPr>
      </p:sp>
      <p:sp>
        <p:nvSpPr>
          <p:cNvPr id="4" name="txt-44"/>
          <p:cNvSpPr txBox="1"/>
          <p:nvPr/>
        </p:nvSpPr>
        <p:spPr>
          <a:xfrm>
            <a:off x="777240" y="2286000"/>
            <a:ext cx="205740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Intimation</a:t>
            </a:r>
            <a:endParaRPr lang="en-US" sz="2000" dirty="0"/>
          </a:p>
        </p:txBody>
      </p:sp>
      <p:sp>
        <p:nvSpPr>
          <p:cNvPr id="5" name="txt-45"/>
          <p:cNvSpPr txBox="1"/>
          <p:nvPr/>
        </p:nvSpPr>
        <p:spPr>
          <a:xfrm>
            <a:off x="777240" y="2880360"/>
            <a:ext cx="20574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Hospital or member raises the claim</a:t>
            </a:r>
            <a:endParaRPr lang="en-US" sz="1500" dirty="0"/>
          </a:p>
        </p:txBody>
      </p:sp>
      <p:sp>
        <p:nvSpPr>
          <p:cNvPr id="6" name="txt-46"/>
          <p:cNvSpPr txBox="1"/>
          <p:nvPr/>
        </p:nvSpPr>
        <p:spPr>
          <a:xfrm>
            <a:off x="3063240" y="2834640"/>
            <a:ext cx="320040" cy="548640"/>
          </a:xfrm>
          <a:prstGeom prst="rect">
            <a:avLst/>
          </a:prstGeom>
          <a:noFill/>
          <a:ln/>
        </p:spPr>
        <p:txBody>
          <a:bodyPr wrap="square" lIns="0" tIns="0" rIns="0" bIns="0" rtlCol="0" anchor="ctr"/>
          <a:lstStyle/>
          <a:p>
            <a:pPr algn="ctr" indent="0" marL="0">
              <a:buNone/>
            </a:pPr>
            <a:r>
              <a:rPr lang="en-US" sz="2600" dirty="0">
                <a:solidFill>
                  <a:schemeClr val="accent6"/>
                </a:solidFill>
                <a:latin typeface="Calibri" pitchFamily="34" charset="0"/>
                <a:ea typeface="Calibri" pitchFamily="34" charset="-122"/>
                <a:cs typeface="Calibri" pitchFamily="34" charset="-120"/>
              </a:rPr>
              <a:t>→</a:t>
            </a:r>
            <a:endParaRPr lang="en-US" sz="2600" dirty="0"/>
          </a:p>
        </p:txBody>
      </p:sp>
      <p:sp>
        <p:nvSpPr>
          <p:cNvPr id="7" name="card-47"/>
          <p:cNvSpPr/>
          <p:nvPr/>
        </p:nvSpPr>
        <p:spPr>
          <a:xfrm>
            <a:off x="3383280" y="2011680"/>
            <a:ext cx="2514600" cy="2286000"/>
          </a:xfrm>
          <a:prstGeom prst="roundRect">
            <a:avLst>
              <a:gd name="adj" fmla="val 4800"/>
            </a:avLst>
          </a:prstGeom>
          <a:solidFill>
            <a:schemeClr val="bg2"/>
          </a:solidFill>
          <a:ln w="12700">
            <a:solidFill>
              <a:schemeClr val="bg2"/>
            </a:solidFill>
            <a:prstDash val="solid"/>
          </a:ln>
        </p:spPr>
      </p:sp>
      <p:sp>
        <p:nvSpPr>
          <p:cNvPr id="8" name="txt-48"/>
          <p:cNvSpPr txBox="1"/>
          <p:nvPr/>
        </p:nvSpPr>
        <p:spPr>
          <a:xfrm>
            <a:off x="3611880" y="2286000"/>
            <a:ext cx="205740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Documents</a:t>
            </a:r>
            <a:endParaRPr lang="en-US" sz="2000" dirty="0"/>
          </a:p>
        </p:txBody>
      </p:sp>
      <p:sp>
        <p:nvSpPr>
          <p:cNvPr id="9" name="txt-49"/>
          <p:cNvSpPr txBox="1"/>
          <p:nvPr/>
        </p:nvSpPr>
        <p:spPr>
          <a:xfrm>
            <a:off x="3611880" y="2880360"/>
            <a:ext cx="20574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Bills, discharge summary; extracted upstream</a:t>
            </a:r>
            <a:endParaRPr lang="en-US" sz="1500" dirty="0"/>
          </a:p>
        </p:txBody>
      </p:sp>
      <p:sp>
        <p:nvSpPr>
          <p:cNvPr id="10" name="txt-50"/>
          <p:cNvSpPr txBox="1"/>
          <p:nvPr/>
        </p:nvSpPr>
        <p:spPr>
          <a:xfrm>
            <a:off x="5897880" y="2834640"/>
            <a:ext cx="320040" cy="548640"/>
          </a:xfrm>
          <a:prstGeom prst="rect">
            <a:avLst/>
          </a:prstGeom>
          <a:noFill/>
          <a:ln/>
        </p:spPr>
        <p:txBody>
          <a:bodyPr wrap="square" lIns="0" tIns="0" rIns="0" bIns="0" rtlCol="0" anchor="ctr"/>
          <a:lstStyle/>
          <a:p>
            <a:pPr algn="ctr" indent="0" marL="0">
              <a:buNone/>
            </a:pPr>
            <a:r>
              <a:rPr lang="en-US" sz="2600" dirty="0">
                <a:solidFill>
                  <a:schemeClr val="accent6"/>
                </a:solidFill>
                <a:latin typeface="Calibri" pitchFamily="34" charset="0"/>
                <a:ea typeface="Calibri" pitchFamily="34" charset="-122"/>
                <a:cs typeface="Calibri" pitchFamily="34" charset="-120"/>
              </a:rPr>
              <a:t>→</a:t>
            </a:r>
            <a:endParaRPr lang="en-US" sz="2600" dirty="0"/>
          </a:p>
        </p:txBody>
      </p:sp>
      <p:sp>
        <p:nvSpPr>
          <p:cNvPr id="11" name="card-51"/>
          <p:cNvSpPr/>
          <p:nvPr/>
        </p:nvSpPr>
        <p:spPr>
          <a:xfrm>
            <a:off x="6217920" y="2011680"/>
            <a:ext cx="2514600" cy="2286000"/>
          </a:xfrm>
          <a:prstGeom prst="roundRect">
            <a:avLst>
              <a:gd name="adj" fmla="val 4800"/>
            </a:avLst>
          </a:prstGeom>
          <a:solidFill>
            <a:schemeClr val="accent1"/>
          </a:solidFill>
          <a:ln w="12700">
            <a:solidFill>
              <a:schemeClr val="accent1"/>
            </a:solidFill>
            <a:prstDash val="solid"/>
          </a:ln>
        </p:spPr>
      </p:sp>
      <p:sp>
        <p:nvSpPr>
          <p:cNvPr id="12" name="txt-52"/>
          <p:cNvSpPr txBox="1"/>
          <p:nvPr/>
        </p:nvSpPr>
        <p:spPr>
          <a:xfrm>
            <a:off x="6446520" y="2286000"/>
            <a:ext cx="2057400" cy="45720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Adjudication</a:t>
            </a:r>
            <a:endParaRPr lang="en-US" sz="2000" dirty="0"/>
          </a:p>
        </p:txBody>
      </p:sp>
      <p:sp>
        <p:nvSpPr>
          <p:cNvPr id="13" name="txt-53"/>
          <p:cNvSpPr txBox="1"/>
          <p:nvPr/>
        </p:nvSpPr>
        <p:spPr>
          <a:xfrm>
            <a:off x="6446520" y="2880360"/>
            <a:ext cx="2057400" cy="11887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This project: admissibility and payable amount</a:t>
            </a:r>
            <a:endParaRPr lang="en-US" sz="1500" dirty="0"/>
          </a:p>
        </p:txBody>
      </p:sp>
      <p:sp>
        <p:nvSpPr>
          <p:cNvPr id="14" name="txt-54"/>
          <p:cNvSpPr txBox="1"/>
          <p:nvPr/>
        </p:nvSpPr>
        <p:spPr>
          <a:xfrm>
            <a:off x="8732520" y="2834640"/>
            <a:ext cx="320040" cy="548640"/>
          </a:xfrm>
          <a:prstGeom prst="rect">
            <a:avLst/>
          </a:prstGeom>
          <a:noFill/>
          <a:ln/>
        </p:spPr>
        <p:txBody>
          <a:bodyPr wrap="square" lIns="0" tIns="0" rIns="0" bIns="0" rtlCol="0" anchor="ctr"/>
          <a:lstStyle/>
          <a:p>
            <a:pPr algn="ctr" indent="0" marL="0">
              <a:buNone/>
            </a:pPr>
            <a:r>
              <a:rPr lang="en-US" sz="2600" dirty="0">
                <a:solidFill>
                  <a:schemeClr val="accent6"/>
                </a:solidFill>
                <a:latin typeface="Calibri" pitchFamily="34" charset="0"/>
                <a:ea typeface="Calibri" pitchFamily="34" charset="-122"/>
                <a:cs typeface="Calibri" pitchFamily="34" charset="-120"/>
              </a:rPr>
              <a:t>→</a:t>
            </a:r>
            <a:endParaRPr lang="en-US" sz="2600" dirty="0"/>
          </a:p>
        </p:txBody>
      </p:sp>
      <p:sp>
        <p:nvSpPr>
          <p:cNvPr id="15" name="card-55"/>
          <p:cNvSpPr/>
          <p:nvPr/>
        </p:nvSpPr>
        <p:spPr>
          <a:xfrm>
            <a:off x="9052560" y="2011680"/>
            <a:ext cx="2514600" cy="2286000"/>
          </a:xfrm>
          <a:prstGeom prst="roundRect">
            <a:avLst>
              <a:gd name="adj" fmla="val 4800"/>
            </a:avLst>
          </a:prstGeom>
          <a:solidFill>
            <a:schemeClr val="bg2"/>
          </a:solidFill>
          <a:ln w="12700">
            <a:solidFill>
              <a:schemeClr val="bg2"/>
            </a:solidFill>
            <a:prstDash val="solid"/>
          </a:ln>
        </p:spPr>
      </p:sp>
      <p:sp>
        <p:nvSpPr>
          <p:cNvPr id="16" name="txt-56"/>
          <p:cNvSpPr txBox="1"/>
          <p:nvPr/>
        </p:nvSpPr>
        <p:spPr>
          <a:xfrm>
            <a:off x="9281160" y="2286000"/>
            <a:ext cx="205740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Settlement</a:t>
            </a:r>
            <a:endParaRPr lang="en-US" sz="2000" dirty="0"/>
          </a:p>
        </p:txBody>
      </p:sp>
      <p:sp>
        <p:nvSpPr>
          <p:cNvPr id="17" name="txt-57"/>
          <p:cNvSpPr txBox="1"/>
          <p:nvPr/>
        </p:nvSpPr>
        <p:spPr>
          <a:xfrm>
            <a:off x="9281160" y="2880360"/>
            <a:ext cx="20574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Policy Administration System revalidates and pays</a:t>
            </a:r>
            <a:endParaRPr lang="en-US" sz="1500" dirty="0"/>
          </a:p>
        </p:txBody>
      </p:sp>
      <p:sp>
        <p:nvSpPr>
          <p:cNvPr id="18" name="txt-58"/>
          <p:cNvSpPr txBox="1"/>
          <p:nvPr/>
        </p:nvSpPr>
        <p:spPr>
          <a:xfrm>
            <a:off x="548640" y="4754880"/>
            <a:ext cx="11094415" cy="10972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Input: one claim line item plus policy, member, history, porting, network, balances, lifetime state and endorsements (assembled from 8 upstream APIs).   Output: approve, partially approve, reject or refer, with every step explained.</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Hybrid approach: each part does what it is good at</a:t>
            </a:r>
            <a:endParaRPr lang="en-US" sz="3200" dirty="0"/>
          </a:p>
        </p:txBody>
      </p:sp>
      <p:sp>
        <p:nvSpPr>
          <p:cNvPr id="3" name="card-59"/>
          <p:cNvSpPr/>
          <p:nvPr/>
        </p:nvSpPr>
        <p:spPr>
          <a:xfrm>
            <a:off x="548640" y="1417320"/>
            <a:ext cx="3474720" cy="3657600"/>
          </a:xfrm>
          <a:prstGeom prst="roundRect">
            <a:avLst>
              <a:gd name="adj" fmla="val 3158"/>
            </a:avLst>
          </a:prstGeom>
          <a:solidFill>
            <a:schemeClr val="bg2"/>
          </a:solidFill>
          <a:ln w="12700">
            <a:solidFill>
              <a:schemeClr val="bg2"/>
            </a:solidFill>
            <a:prstDash val="solid"/>
          </a:ln>
        </p:spPr>
      </p:sp>
      <p:sp>
        <p:nvSpPr>
          <p:cNvPr id="4" name="dot-60"/>
          <p:cNvSpPr/>
          <p:nvPr/>
        </p:nvSpPr>
        <p:spPr>
          <a:xfrm>
            <a:off x="822960" y="1691640"/>
            <a:ext cx="731520" cy="731520"/>
          </a:xfrm>
          <a:prstGeom prst="ellipse">
            <a:avLst/>
          </a:prstGeom>
          <a:solidFill>
            <a:schemeClr val="accent1"/>
          </a:solidFill>
          <a:ln w="12700">
            <a:solidFill>
              <a:schemeClr val="accent1"/>
            </a:solidFill>
            <a:prstDash val="solid"/>
          </a:ln>
        </p:spPr>
      </p:sp>
      <p:sp>
        <p:nvSpPr>
          <p:cNvPr id="5" name="txt-61"/>
          <p:cNvSpPr txBox="1"/>
          <p:nvPr/>
        </p:nvSpPr>
        <p:spPr>
          <a:xfrm>
            <a:off x="822960" y="16916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6" name="txt-62"/>
          <p:cNvSpPr txBox="1"/>
          <p:nvPr/>
        </p:nvSpPr>
        <p:spPr>
          <a:xfrm>
            <a:off x="822960" y="260604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Deterministic rules</a:t>
            </a:r>
            <a:endParaRPr lang="en-US" sz="2000" dirty="0"/>
          </a:p>
        </p:txBody>
      </p:sp>
      <p:sp>
        <p:nvSpPr>
          <p:cNvPr id="7" name="txt-63"/>
          <p:cNvSpPr txBox="1"/>
          <p:nvPr/>
        </p:nvSpPr>
        <p:spPr>
          <a:xfrm>
            <a:off x="822960" y="3154680"/>
            <a:ext cx="29260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Eligibility, dates, waiting periods, room-rent pro-rata, co-pay, deductible, sum-insured waterfall</a:t>
            </a:r>
            <a:endParaRPr lang="en-US" sz="1500" dirty="0"/>
          </a:p>
        </p:txBody>
      </p:sp>
      <p:sp>
        <p:nvSpPr>
          <p:cNvPr id="8" name="txt-64"/>
          <p:cNvSpPr txBox="1"/>
          <p:nvPr/>
        </p:nvSpPr>
        <p:spPr>
          <a:xfrm>
            <a:off x="822960" y="4434840"/>
            <a:ext cx="2926080" cy="457200"/>
          </a:xfrm>
          <a:prstGeom prst="rect">
            <a:avLst/>
          </a:prstGeom>
          <a:noFill/>
          <a:ln/>
        </p:spPr>
        <p:txBody>
          <a:bodyPr wrap="square" lIns="0" tIns="0" rIns="0" bIns="0" rtlCol="0" anchor="ctr"/>
          <a:lstStyle/>
          <a:p>
            <a:pPr indent="0" marL="0">
              <a:buNone/>
            </a:pPr>
            <a:r>
              <a:rPr lang="en-US" sz="1400" i="1" dirty="0">
                <a:solidFill>
                  <a:schemeClr val="accent1"/>
                </a:solidFill>
                <a:latin typeface="Calibri" pitchFamily="34" charset="0"/>
                <a:ea typeface="Calibri" pitchFamily="34" charset="-122"/>
                <a:cs typeface="Calibri" pitchFamily="34" charset="-120"/>
              </a:rPr>
              <a:t>Exact · auditable · testable</a:t>
            </a:r>
            <a:endParaRPr lang="en-US" sz="1400" dirty="0"/>
          </a:p>
        </p:txBody>
      </p:sp>
      <p:sp>
        <p:nvSpPr>
          <p:cNvPr id="9" name="card-65"/>
          <p:cNvSpPr/>
          <p:nvPr/>
        </p:nvSpPr>
        <p:spPr>
          <a:xfrm>
            <a:off x="4297680" y="1417320"/>
            <a:ext cx="3474720" cy="3657600"/>
          </a:xfrm>
          <a:prstGeom prst="roundRect">
            <a:avLst>
              <a:gd name="adj" fmla="val 3158"/>
            </a:avLst>
          </a:prstGeom>
          <a:solidFill>
            <a:schemeClr val="bg2"/>
          </a:solidFill>
          <a:ln w="12700">
            <a:solidFill>
              <a:schemeClr val="bg2"/>
            </a:solidFill>
            <a:prstDash val="solid"/>
          </a:ln>
        </p:spPr>
      </p:sp>
      <p:sp>
        <p:nvSpPr>
          <p:cNvPr id="10" name="dot-66"/>
          <p:cNvSpPr/>
          <p:nvPr/>
        </p:nvSpPr>
        <p:spPr>
          <a:xfrm>
            <a:off x="4572000" y="1691640"/>
            <a:ext cx="731520" cy="731520"/>
          </a:xfrm>
          <a:prstGeom prst="ellipse">
            <a:avLst/>
          </a:prstGeom>
          <a:solidFill>
            <a:schemeClr val="accent4"/>
          </a:solidFill>
          <a:ln w="12700">
            <a:solidFill>
              <a:schemeClr val="accent4"/>
            </a:solidFill>
            <a:prstDash val="solid"/>
          </a:ln>
        </p:spPr>
      </p:sp>
      <p:sp>
        <p:nvSpPr>
          <p:cNvPr id="11" name="txt-67"/>
          <p:cNvSpPr txBox="1"/>
          <p:nvPr/>
        </p:nvSpPr>
        <p:spPr>
          <a:xfrm>
            <a:off x="4572000" y="16916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12" name="txt-68"/>
          <p:cNvSpPr txBox="1"/>
          <p:nvPr/>
        </p:nvSpPr>
        <p:spPr>
          <a:xfrm>
            <a:off x="4572000" y="260604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Language model</a:t>
            </a:r>
            <a:endParaRPr lang="en-US" sz="2000" dirty="0"/>
          </a:p>
        </p:txBody>
      </p:sp>
      <p:sp>
        <p:nvSpPr>
          <p:cNvPr id="13" name="txt-69"/>
          <p:cNvSpPr txBox="1"/>
          <p:nvPr/>
        </p:nvSpPr>
        <p:spPr>
          <a:xfrm>
            <a:off x="4572000" y="3154680"/>
            <a:ext cx="29260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Reads diagnosis and discharge summary: is it cosmetic? maternity? diagnostic-only? rest cure?</a:t>
            </a:r>
            <a:endParaRPr lang="en-US" sz="1500" dirty="0"/>
          </a:p>
        </p:txBody>
      </p:sp>
      <p:sp>
        <p:nvSpPr>
          <p:cNvPr id="14" name="txt-70"/>
          <p:cNvSpPr txBox="1"/>
          <p:nvPr/>
        </p:nvSpPr>
        <p:spPr>
          <a:xfrm>
            <a:off x="4572000" y="4434840"/>
            <a:ext cx="2926080" cy="457200"/>
          </a:xfrm>
          <a:prstGeom prst="rect">
            <a:avLst/>
          </a:prstGeom>
          <a:noFill/>
          <a:ln/>
        </p:spPr>
        <p:txBody>
          <a:bodyPr wrap="square" lIns="0" tIns="0" rIns="0" bIns="0" rtlCol="0" anchor="ctr"/>
          <a:lstStyle/>
          <a:p>
            <a:pPr indent="0" marL="0">
              <a:buNone/>
            </a:pPr>
            <a:r>
              <a:rPr lang="en-US" sz="1400" i="1" dirty="0">
                <a:solidFill>
                  <a:schemeClr val="accent4"/>
                </a:solidFill>
                <a:latin typeface="Calibri" pitchFamily="34" charset="0"/>
                <a:ea typeface="Calibri" pitchFamily="34" charset="-122"/>
                <a:cs typeface="Calibri" pitchFamily="34" charset="-120"/>
              </a:rPr>
              <a:t>Structured JSON · confidence score</a:t>
            </a:r>
            <a:endParaRPr lang="en-US" sz="1400" dirty="0"/>
          </a:p>
        </p:txBody>
      </p:sp>
      <p:sp>
        <p:nvSpPr>
          <p:cNvPr id="15" name="card-71"/>
          <p:cNvSpPr/>
          <p:nvPr/>
        </p:nvSpPr>
        <p:spPr>
          <a:xfrm>
            <a:off x="8046720" y="1417320"/>
            <a:ext cx="3474720" cy="3657600"/>
          </a:xfrm>
          <a:prstGeom prst="roundRect">
            <a:avLst>
              <a:gd name="adj" fmla="val 3158"/>
            </a:avLst>
          </a:prstGeom>
          <a:solidFill>
            <a:schemeClr val="bg2"/>
          </a:solidFill>
          <a:ln w="12700">
            <a:solidFill>
              <a:schemeClr val="bg2"/>
            </a:solidFill>
            <a:prstDash val="solid"/>
          </a:ln>
        </p:spPr>
      </p:sp>
      <p:sp>
        <p:nvSpPr>
          <p:cNvPr id="16" name="dot-72"/>
          <p:cNvSpPr/>
          <p:nvPr/>
        </p:nvSpPr>
        <p:spPr>
          <a:xfrm>
            <a:off x="8321040" y="1691640"/>
            <a:ext cx="731520" cy="731520"/>
          </a:xfrm>
          <a:prstGeom prst="ellipse">
            <a:avLst/>
          </a:prstGeom>
          <a:solidFill>
            <a:schemeClr val="accent2"/>
          </a:solidFill>
          <a:ln w="12700">
            <a:solidFill>
              <a:schemeClr val="accent2"/>
            </a:solidFill>
            <a:prstDash val="solid"/>
          </a:ln>
        </p:spPr>
      </p:sp>
      <p:sp>
        <p:nvSpPr>
          <p:cNvPr id="17" name="txt-73"/>
          <p:cNvSpPr txBox="1"/>
          <p:nvPr/>
        </p:nvSpPr>
        <p:spPr>
          <a:xfrm>
            <a:off x="8321040" y="16916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18" name="txt-74"/>
          <p:cNvSpPr txBox="1"/>
          <p:nvPr/>
        </p:nvSpPr>
        <p:spPr>
          <a:xfrm>
            <a:off x="8321040" y="260604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Human reviewer</a:t>
            </a:r>
            <a:endParaRPr lang="en-US" sz="2000" dirty="0"/>
          </a:p>
        </p:txBody>
      </p:sp>
      <p:sp>
        <p:nvSpPr>
          <p:cNvPr id="19" name="txt-75"/>
          <p:cNvSpPr txBox="1"/>
          <p:nvPr/>
        </p:nvSpPr>
        <p:spPr>
          <a:xfrm>
            <a:off x="8321040" y="3154680"/>
            <a:ext cx="29260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Low confidence, invalid AI output, missing data or conflicting rules</a:t>
            </a:r>
            <a:endParaRPr lang="en-US" sz="1500" dirty="0"/>
          </a:p>
        </p:txBody>
      </p:sp>
      <p:sp>
        <p:nvSpPr>
          <p:cNvPr id="20" name="txt-76"/>
          <p:cNvSpPr txBox="1"/>
          <p:nvPr/>
        </p:nvSpPr>
        <p:spPr>
          <a:xfrm>
            <a:off x="8321040" y="4434840"/>
            <a:ext cx="2926080" cy="457200"/>
          </a:xfrm>
          <a:prstGeom prst="rect">
            <a:avLst/>
          </a:prstGeom>
          <a:noFill/>
          <a:ln/>
        </p:spPr>
        <p:txBody>
          <a:bodyPr wrap="square" lIns="0" tIns="0" rIns="0" bIns="0" rtlCol="0" anchor="ctr"/>
          <a:lstStyle/>
          <a:p>
            <a:pPr indent="0" marL="0">
              <a:buNone/>
            </a:pPr>
            <a:r>
              <a:rPr lang="en-US" sz="1400" i="1" dirty="0">
                <a:solidFill>
                  <a:schemeClr val="accent2"/>
                </a:solidFill>
                <a:latin typeface="Calibri" pitchFamily="34" charset="0"/>
                <a:ea typeface="Calibri" pitchFamily="34" charset="-122"/>
                <a:cs typeface="Calibri" pitchFamily="34" charset="-120"/>
              </a:rPr>
              <a:t>Four review queues</a:t>
            </a:r>
            <a:endParaRPr lang="en-US" sz="1400" dirty="0"/>
          </a:p>
        </p:txBody>
      </p:sp>
      <p:sp>
        <p:nvSpPr>
          <p:cNvPr id="21" name="txt-77"/>
          <p:cNvSpPr txBox="1"/>
          <p:nvPr/>
        </p:nvSpPr>
        <p:spPr>
          <a:xfrm>
            <a:off x="548640" y="5394960"/>
            <a:ext cx="11094415" cy="548640"/>
          </a:xfrm>
          <a:prstGeom prst="rect">
            <a:avLst/>
          </a:prstGeom>
          <a:noFill/>
          <a:ln/>
        </p:spPr>
        <p:txBody>
          <a:bodyPr wrap="square" lIns="0" tIns="0" rIns="0" bIns="0" rtlCol="0" anchor="ctr"/>
          <a:lstStyle/>
          <a:p>
            <a:pPr indent="0" marL="0">
              <a:buNone/>
            </a:pPr>
            <a:r>
              <a:rPr lang="en-US" sz="1800" b="1" i="1" dirty="0">
                <a:solidFill>
                  <a:schemeClr val="tx2"/>
                </a:solidFill>
                <a:latin typeface="Cambria" pitchFamily="34" charset="0"/>
                <a:ea typeface="Cambria" pitchFamily="34" charset="-122"/>
                <a:cs typeface="Cambria" pitchFamily="34" charset="-120"/>
              </a:rPr>
              <a:t>Money is never computed by the LLM; the LLM never has the final word when it is unsure.</a:t>
            </a:r>
            <a:endParaRPr lang="en-US" sz="18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Execution: phased, specification-driven, test at every step</a:t>
            </a:r>
            <a:endParaRPr lang="en-US" sz="3200" dirty="0"/>
          </a:p>
        </p:txBody>
      </p:sp>
      <p:sp>
        <p:nvSpPr>
          <p:cNvPr id="3" name="card-78"/>
          <p:cNvSpPr/>
          <p:nvPr/>
        </p:nvSpPr>
        <p:spPr>
          <a:xfrm>
            <a:off x="548640" y="1325880"/>
            <a:ext cx="2633472" cy="1508760"/>
          </a:xfrm>
          <a:prstGeom prst="roundRect">
            <a:avLst>
              <a:gd name="adj" fmla="val 7273"/>
            </a:avLst>
          </a:prstGeom>
          <a:solidFill>
            <a:schemeClr val="bg2"/>
          </a:solidFill>
          <a:ln w="12700">
            <a:solidFill>
              <a:schemeClr val="bg2"/>
            </a:solidFill>
            <a:prstDash val="solid"/>
          </a:ln>
        </p:spPr>
      </p:sp>
      <p:sp>
        <p:nvSpPr>
          <p:cNvPr id="4" name="txt-79"/>
          <p:cNvSpPr txBox="1"/>
          <p:nvPr/>
        </p:nvSpPr>
        <p:spPr>
          <a:xfrm>
            <a:off x="731520" y="146304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LATE MAY</a:t>
            </a:r>
            <a:endParaRPr lang="en-US" sz="1100" dirty="0"/>
          </a:p>
        </p:txBody>
      </p:sp>
      <p:sp>
        <p:nvSpPr>
          <p:cNvPr id="5" name="txt-80"/>
          <p:cNvSpPr txBox="1"/>
          <p:nvPr/>
        </p:nvSpPr>
        <p:spPr>
          <a:xfrm>
            <a:off x="731520" y="173736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Domain study</a:t>
            </a:r>
            <a:endParaRPr lang="en-US" sz="1800" dirty="0"/>
          </a:p>
        </p:txBody>
      </p:sp>
      <p:sp>
        <p:nvSpPr>
          <p:cNvPr id="6" name="txt-81"/>
          <p:cNvSpPr txBox="1"/>
          <p:nvPr/>
        </p:nvSpPr>
        <p:spPr>
          <a:xfrm>
            <a:off x="731520" y="219456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Policy wording, TSD, rule JSON</a:t>
            </a:r>
            <a:endParaRPr lang="en-US" sz="1300" dirty="0"/>
          </a:p>
        </p:txBody>
      </p:sp>
      <p:sp>
        <p:nvSpPr>
          <p:cNvPr id="7" name="card-82"/>
          <p:cNvSpPr/>
          <p:nvPr/>
        </p:nvSpPr>
        <p:spPr>
          <a:xfrm>
            <a:off x="3364992" y="1325880"/>
            <a:ext cx="2633472" cy="1508760"/>
          </a:xfrm>
          <a:prstGeom prst="roundRect">
            <a:avLst>
              <a:gd name="adj" fmla="val 7273"/>
            </a:avLst>
          </a:prstGeom>
          <a:solidFill>
            <a:schemeClr val="bg2"/>
          </a:solidFill>
          <a:ln w="12700">
            <a:solidFill>
              <a:schemeClr val="bg2"/>
            </a:solidFill>
            <a:prstDash val="solid"/>
          </a:ln>
        </p:spPr>
      </p:sp>
      <p:sp>
        <p:nvSpPr>
          <p:cNvPr id="8" name="txt-83"/>
          <p:cNvSpPr txBox="1"/>
          <p:nvPr/>
        </p:nvSpPr>
        <p:spPr>
          <a:xfrm>
            <a:off x="3547872" y="146304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WEEK 1</a:t>
            </a:r>
            <a:endParaRPr lang="en-US" sz="1100" dirty="0"/>
          </a:p>
        </p:txBody>
      </p:sp>
      <p:sp>
        <p:nvSpPr>
          <p:cNvPr id="9" name="txt-84"/>
          <p:cNvSpPr txBox="1"/>
          <p:nvPr/>
        </p:nvSpPr>
        <p:spPr>
          <a:xfrm>
            <a:off x="3547872" y="173736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Deterministic core</a:t>
            </a:r>
            <a:endParaRPr lang="en-US" sz="1800" dirty="0"/>
          </a:p>
        </p:txBody>
      </p:sp>
      <p:sp>
        <p:nvSpPr>
          <p:cNvPr id="10" name="txt-85"/>
          <p:cNvSpPr txBox="1"/>
          <p:nvPr/>
        </p:nvSpPr>
        <p:spPr>
          <a:xfrm>
            <a:off x="3547872" y="219456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Schemas, 8 calculators, 7 gates</a:t>
            </a:r>
            <a:endParaRPr lang="en-US" sz="1300" dirty="0"/>
          </a:p>
        </p:txBody>
      </p:sp>
      <p:sp>
        <p:nvSpPr>
          <p:cNvPr id="11" name="card-86"/>
          <p:cNvSpPr/>
          <p:nvPr/>
        </p:nvSpPr>
        <p:spPr>
          <a:xfrm>
            <a:off x="6181344" y="1325880"/>
            <a:ext cx="2633472" cy="1508760"/>
          </a:xfrm>
          <a:prstGeom prst="roundRect">
            <a:avLst>
              <a:gd name="adj" fmla="val 7273"/>
            </a:avLst>
          </a:prstGeom>
          <a:solidFill>
            <a:schemeClr val="bg2"/>
          </a:solidFill>
          <a:ln w="12700">
            <a:solidFill>
              <a:schemeClr val="bg2"/>
            </a:solidFill>
            <a:prstDash val="solid"/>
          </a:ln>
        </p:spPr>
      </p:sp>
      <p:sp>
        <p:nvSpPr>
          <p:cNvPr id="12" name="txt-87"/>
          <p:cNvSpPr txBox="1"/>
          <p:nvPr/>
        </p:nvSpPr>
        <p:spPr>
          <a:xfrm>
            <a:off x="6364224" y="146304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WEEK 2</a:t>
            </a:r>
            <a:endParaRPr lang="en-US" sz="1100" dirty="0"/>
          </a:p>
        </p:txBody>
      </p:sp>
      <p:sp>
        <p:nvSpPr>
          <p:cNvPr id="13" name="txt-88"/>
          <p:cNvSpPr txBox="1"/>
          <p:nvPr/>
        </p:nvSpPr>
        <p:spPr>
          <a:xfrm>
            <a:off x="6364224" y="173736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AI layer</a:t>
            </a:r>
            <a:endParaRPr lang="en-US" sz="1800" dirty="0"/>
          </a:p>
        </p:txBody>
      </p:sp>
      <p:sp>
        <p:nvSpPr>
          <p:cNvPr id="14" name="txt-89"/>
          <p:cNvSpPr txBox="1"/>
          <p:nvPr/>
        </p:nvSpPr>
        <p:spPr>
          <a:xfrm>
            <a:off x="6364224" y="219456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Product memory, DAG planner, LLM agent</a:t>
            </a:r>
            <a:endParaRPr lang="en-US" sz="1300" dirty="0"/>
          </a:p>
        </p:txBody>
      </p:sp>
      <p:sp>
        <p:nvSpPr>
          <p:cNvPr id="15" name="card-90"/>
          <p:cNvSpPr/>
          <p:nvPr/>
        </p:nvSpPr>
        <p:spPr>
          <a:xfrm>
            <a:off x="8997696" y="1325880"/>
            <a:ext cx="2633472" cy="1508760"/>
          </a:xfrm>
          <a:prstGeom prst="roundRect">
            <a:avLst>
              <a:gd name="adj" fmla="val 7273"/>
            </a:avLst>
          </a:prstGeom>
          <a:solidFill>
            <a:schemeClr val="bg2"/>
          </a:solidFill>
          <a:ln w="12700">
            <a:solidFill>
              <a:schemeClr val="bg2"/>
            </a:solidFill>
            <a:prstDash val="solid"/>
          </a:ln>
        </p:spPr>
      </p:sp>
      <p:sp>
        <p:nvSpPr>
          <p:cNvPr id="16" name="txt-91"/>
          <p:cNvSpPr txBox="1"/>
          <p:nvPr/>
        </p:nvSpPr>
        <p:spPr>
          <a:xfrm>
            <a:off x="9180576" y="146304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WEEK 3</a:t>
            </a:r>
            <a:endParaRPr lang="en-US" sz="1100" dirty="0"/>
          </a:p>
        </p:txBody>
      </p:sp>
      <p:sp>
        <p:nvSpPr>
          <p:cNvPr id="17" name="txt-92"/>
          <p:cNvSpPr txBox="1"/>
          <p:nvPr/>
        </p:nvSpPr>
        <p:spPr>
          <a:xfrm>
            <a:off x="9180576" y="173736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Hardening</a:t>
            </a:r>
            <a:endParaRPr lang="en-US" sz="1800" dirty="0"/>
          </a:p>
        </p:txBody>
      </p:sp>
      <p:sp>
        <p:nvSpPr>
          <p:cNvPr id="18" name="txt-93"/>
          <p:cNvSpPr txBox="1"/>
          <p:nvPr/>
        </p:nvSpPr>
        <p:spPr>
          <a:xfrm>
            <a:off x="9180576" y="219456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Logger, telemetry, property tests</a:t>
            </a:r>
            <a:endParaRPr lang="en-US" sz="1300" dirty="0"/>
          </a:p>
        </p:txBody>
      </p:sp>
      <p:sp>
        <p:nvSpPr>
          <p:cNvPr id="19" name="card-94"/>
          <p:cNvSpPr/>
          <p:nvPr/>
        </p:nvSpPr>
        <p:spPr>
          <a:xfrm>
            <a:off x="548640" y="3017520"/>
            <a:ext cx="2633472" cy="1508760"/>
          </a:xfrm>
          <a:prstGeom prst="roundRect">
            <a:avLst>
              <a:gd name="adj" fmla="val 7273"/>
            </a:avLst>
          </a:prstGeom>
          <a:solidFill>
            <a:schemeClr val="bg2"/>
          </a:solidFill>
          <a:ln w="12700">
            <a:solidFill>
              <a:schemeClr val="bg2"/>
            </a:solidFill>
            <a:prstDash val="solid"/>
          </a:ln>
        </p:spPr>
      </p:sp>
      <p:sp>
        <p:nvSpPr>
          <p:cNvPr id="20" name="txt-95"/>
          <p:cNvSpPr txBox="1"/>
          <p:nvPr/>
        </p:nvSpPr>
        <p:spPr>
          <a:xfrm>
            <a:off x="731520" y="315468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WEEK 4</a:t>
            </a:r>
            <a:endParaRPr lang="en-US" sz="1100" dirty="0"/>
          </a:p>
        </p:txBody>
      </p:sp>
      <p:sp>
        <p:nvSpPr>
          <p:cNvPr id="21" name="txt-96"/>
          <p:cNvSpPr txBox="1"/>
          <p:nvPr/>
        </p:nvSpPr>
        <p:spPr>
          <a:xfrm>
            <a:off x="731520" y="342900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Integration</a:t>
            </a:r>
            <a:endParaRPr lang="en-US" sz="1800" dirty="0"/>
          </a:p>
        </p:txBody>
      </p:sp>
      <p:sp>
        <p:nvSpPr>
          <p:cNvPr id="22" name="txt-97"/>
          <p:cNvSpPr txBox="1"/>
          <p:nvPr/>
        </p:nvSpPr>
        <p:spPr>
          <a:xfrm>
            <a:off x="731520" y="388620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8 gateways, PostgreSQL, Docker</a:t>
            </a:r>
            <a:endParaRPr lang="en-US" sz="1300" dirty="0"/>
          </a:p>
        </p:txBody>
      </p:sp>
      <p:sp>
        <p:nvSpPr>
          <p:cNvPr id="23" name="card-98"/>
          <p:cNvSpPr/>
          <p:nvPr/>
        </p:nvSpPr>
        <p:spPr>
          <a:xfrm>
            <a:off x="3364992" y="3017520"/>
            <a:ext cx="2633472" cy="1508760"/>
          </a:xfrm>
          <a:prstGeom prst="roundRect">
            <a:avLst>
              <a:gd name="adj" fmla="val 7273"/>
            </a:avLst>
          </a:prstGeom>
          <a:solidFill>
            <a:schemeClr val="bg2"/>
          </a:solidFill>
          <a:ln w="12700">
            <a:solidFill>
              <a:schemeClr val="bg2"/>
            </a:solidFill>
            <a:prstDash val="solid"/>
          </a:ln>
        </p:spPr>
      </p:sp>
      <p:sp>
        <p:nvSpPr>
          <p:cNvPr id="24" name="txt-99"/>
          <p:cNvSpPr txBox="1"/>
          <p:nvPr/>
        </p:nvSpPr>
        <p:spPr>
          <a:xfrm>
            <a:off x="3547872" y="315468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WEEK 5</a:t>
            </a:r>
            <a:endParaRPr lang="en-US" sz="1100" dirty="0"/>
          </a:p>
        </p:txBody>
      </p:sp>
      <p:sp>
        <p:nvSpPr>
          <p:cNvPr id="25" name="txt-100"/>
          <p:cNvSpPr txBox="1"/>
          <p:nvPr/>
        </p:nvSpPr>
        <p:spPr>
          <a:xfrm>
            <a:off x="3547872" y="342900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Product UI</a:t>
            </a:r>
            <a:endParaRPr lang="en-US" sz="1800" dirty="0"/>
          </a:p>
        </p:txBody>
      </p:sp>
      <p:sp>
        <p:nvSpPr>
          <p:cNvPr id="26" name="txt-101"/>
          <p:cNvSpPr txBox="1"/>
          <p:nvPr/>
        </p:nvSpPr>
        <p:spPr>
          <a:xfrm>
            <a:off x="3547872" y="388620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Live SSE, OCR upload, AI summaries</a:t>
            </a:r>
            <a:endParaRPr lang="en-US" sz="1300" dirty="0"/>
          </a:p>
        </p:txBody>
      </p:sp>
      <p:sp>
        <p:nvSpPr>
          <p:cNvPr id="27" name="card-102"/>
          <p:cNvSpPr/>
          <p:nvPr/>
        </p:nvSpPr>
        <p:spPr>
          <a:xfrm>
            <a:off x="6181344" y="3017520"/>
            <a:ext cx="2633472" cy="1508760"/>
          </a:xfrm>
          <a:prstGeom prst="roundRect">
            <a:avLst>
              <a:gd name="adj" fmla="val 7273"/>
            </a:avLst>
          </a:prstGeom>
          <a:solidFill>
            <a:schemeClr val="bg2"/>
          </a:solidFill>
          <a:ln w="12700">
            <a:solidFill>
              <a:schemeClr val="bg2"/>
            </a:solidFill>
            <a:prstDash val="solid"/>
          </a:ln>
        </p:spPr>
      </p:sp>
      <p:sp>
        <p:nvSpPr>
          <p:cNvPr id="28" name="txt-103"/>
          <p:cNvSpPr txBox="1"/>
          <p:nvPr/>
        </p:nvSpPr>
        <p:spPr>
          <a:xfrm>
            <a:off x="6364224" y="3154680"/>
            <a:ext cx="226771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WEEK 6–7</a:t>
            </a:r>
            <a:endParaRPr lang="en-US" sz="1100" dirty="0"/>
          </a:p>
        </p:txBody>
      </p:sp>
      <p:sp>
        <p:nvSpPr>
          <p:cNvPr id="29" name="txt-104"/>
          <p:cNvSpPr txBox="1"/>
          <p:nvPr/>
        </p:nvSpPr>
        <p:spPr>
          <a:xfrm>
            <a:off x="6364224" y="3429000"/>
            <a:ext cx="2267712"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Refactor &amp; state</a:t>
            </a:r>
            <a:endParaRPr lang="en-US" sz="1800" dirty="0"/>
          </a:p>
        </p:txBody>
      </p:sp>
      <p:sp>
        <p:nvSpPr>
          <p:cNvPr id="30" name="txt-105"/>
          <p:cNvSpPr txBox="1"/>
          <p:nvPr/>
        </p:nvSpPr>
        <p:spPr>
          <a:xfrm>
            <a:off x="6364224" y="3886200"/>
            <a:ext cx="226771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Gate modules, Forever state, handover</a:t>
            </a:r>
            <a:endParaRPr lang="en-US" sz="1300" dirty="0"/>
          </a:p>
        </p:txBody>
      </p:sp>
      <p:sp>
        <p:nvSpPr>
          <p:cNvPr id="31" name="card-106"/>
          <p:cNvSpPr/>
          <p:nvPr/>
        </p:nvSpPr>
        <p:spPr>
          <a:xfrm>
            <a:off x="8997696" y="3017520"/>
            <a:ext cx="2633472" cy="1508760"/>
          </a:xfrm>
          <a:prstGeom prst="roundRect">
            <a:avLst>
              <a:gd name="adj" fmla="val 7273"/>
            </a:avLst>
          </a:prstGeom>
          <a:solidFill>
            <a:schemeClr val="accent1"/>
          </a:solidFill>
          <a:ln w="12700">
            <a:solidFill>
              <a:schemeClr val="accent1"/>
            </a:solidFill>
            <a:prstDash val="solid"/>
          </a:ln>
        </p:spPr>
      </p:sp>
      <p:sp>
        <p:nvSpPr>
          <p:cNvPr id="32" name="txt-107"/>
          <p:cNvSpPr txBox="1"/>
          <p:nvPr/>
        </p:nvSpPr>
        <p:spPr>
          <a:xfrm>
            <a:off x="9180576" y="3154680"/>
            <a:ext cx="2267712" cy="274320"/>
          </a:xfrm>
          <a:prstGeom prst="rect">
            <a:avLst/>
          </a:prstGeom>
          <a:noFill/>
          <a:ln/>
        </p:spPr>
        <p:txBody>
          <a:bodyPr wrap="square" lIns="0" tIns="0" rIns="0" bIns="0" rtlCol="0" anchor="ctr"/>
          <a:lstStyle/>
          <a:p>
            <a:pPr indent="0" marL="0">
              <a:buNone/>
            </a:pPr>
            <a:r>
              <a:rPr lang="en-US" sz="1100" b="1" spc="100" kern="0" dirty="0">
                <a:solidFill>
                  <a:schemeClr val="bg1"/>
                </a:solidFill>
                <a:latin typeface="Calibri" pitchFamily="34" charset="0"/>
                <a:ea typeface="Calibri" pitchFamily="34" charset="-122"/>
                <a:cs typeface="Calibri" pitchFamily="34" charset="-120"/>
              </a:rPr>
              <a:t>FINAL</a:t>
            </a:r>
            <a:endParaRPr lang="en-US" sz="1100" dirty="0"/>
          </a:p>
        </p:txBody>
      </p:sp>
      <p:sp>
        <p:nvSpPr>
          <p:cNvPr id="33" name="txt-108"/>
          <p:cNvSpPr txBox="1"/>
          <p:nvPr/>
        </p:nvSpPr>
        <p:spPr>
          <a:xfrm>
            <a:off x="9180576" y="3429000"/>
            <a:ext cx="2267712"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Hardening</a:t>
            </a:r>
            <a:endParaRPr lang="en-US" sz="1800" dirty="0"/>
          </a:p>
        </p:txBody>
      </p:sp>
      <p:sp>
        <p:nvSpPr>
          <p:cNvPr id="34" name="txt-109"/>
          <p:cNvSpPr txBox="1"/>
          <p:nvPr/>
        </p:nvSpPr>
        <p:spPr>
          <a:xfrm>
            <a:off x="9180576" y="3886200"/>
            <a:ext cx="2267712"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Groq, batching, 10 scenarios, fixes</a:t>
            </a:r>
            <a:endParaRPr lang="en-US" sz="1300" dirty="0"/>
          </a:p>
        </p:txBody>
      </p:sp>
      <p:sp>
        <p:nvSpPr>
          <p:cNvPr id="35" name="txt-110"/>
          <p:cNvSpPr txBox="1"/>
          <p:nvPr/>
        </p:nvSpPr>
        <p:spPr>
          <a:xfrm>
            <a:off x="548640" y="4892040"/>
            <a:ext cx="274320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Every rule, every phase:</a:t>
            </a:r>
            <a:endParaRPr lang="en-US" sz="1400" dirty="0"/>
          </a:p>
        </p:txBody>
      </p:sp>
      <p:sp>
        <p:nvSpPr>
          <p:cNvPr id="36" name="step-111"/>
          <p:cNvSpPr/>
          <p:nvPr/>
        </p:nvSpPr>
        <p:spPr>
          <a:xfrm>
            <a:off x="548640" y="5349240"/>
            <a:ext cx="1874520" cy="548640"/>
          </a:xfrm>
          <a:prstGeom prst="roundRect">
            <a:avLst>
              <a:gd name="adj" fmla="val 50000"/>
            </a:avLst>
          </a:prstGeom>
          <a:solidFill>
            <a:schemeClr val="bg1"/>
          </a:solidFill>
          <a:ln w="19050">
            <a:solidFill>
              <a:schemeClr val="accent1"/>
            </a:solidFill>
            <a:prstDash val="solid"/>
          </a:ln>
        </p:spPr>
      </p:sp>
      <p:sp>
        <p:nvSpPr>
          <p:cNvPr id="37" name="txt-112"/>
          <p:cNvSpPr txBox="1"/>
          <p:nvPr/>
        </p:nvSpPr>
        <p:spPr>
          <a:xfrm>
            <a:off x="548640" y="5349240"/>
            <a:ext cx="1874520" cy="5486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Analyse clause</a:t>
            </a:r>
            <a:endParaRPr lang="en-US" sz="1400" dirty="0"/>
          </a:p>
        </p:txBody>
      </p:sp>
      <p:sp>
        <p:nvSpPr>
          <p:cNvPr id="38" name="txt-113"/>
          <p:cNvSpPr txBox="1"/>
          <p:nvPr/>
        </p:nvSpPr>
        <p:spPr>
          <a:xfrm>
            <a:off x="2423160" y="5349240"/>
            <a:ext cx="365760" cy="548640"/>
          </a:xfrm>
          <a:prstGeom prst="rect">
            <a:avLst/>
          </a:prstGeom>
          <a:noFill/>
          <a:ln/>
        </p:spPr>
        <p:txBody>
          <a:bodyPr wrap="square" lIns="0" tIns="0" rIns="0" bIns="0" rtlCol="0" anchor="ctr"/>
          <a:lstStyle/>
          <a:p>
            <a:pPr algn="ctr" indent="0" marL="0">
              <a:buNone/>
            </a:pPr>
            <a:r>
              <a:rPr lang="en-US" sz="2000" dirty="0">
                <a:solidFill>
                  <a:schemeClr val="accent6"/>
                </a:solidFill>
                <a:latin typeface="Calibri" pitchFamily="34" charset="0"/>
                <a:ea typeface="Calibri" pitchFamily="34" charset="-122"/>
                <a:cs typeface="Calibri" pitchFamily="34" charset="-120"/>
              </a:rPr>
              <a:t>→</a:t>
            </a:r>
            <a:endParaRPr lang="en-US" sz="2000" dirty="0"/>
          </a:p>
        </p:txBody>
      </p:sp>
      <p:sp>
        <p:nvSpPr>
          <p:cNvPr id="39" name="step-114"/>
          <p:cNvSpPr/>
          <p:nvPr/>
        </p:nvSpPr>
        <p:spPr>
          <a:xfrm>
            <a:off x="2788920" y="5349240"/>
            <a:ext cx="1874520" cy="548640"/>
          </a:xfrm>
          <a:prstGeom prst="roundRect">
            <a:avLst>
              <a:gd name="adj" fmla="val 50000"/>
            </a:avLst>
          </a:prstGeom>
          <a:solidFill>
            <a:schemeClr val="bg1"/>
          </a:solidFill>
          <a:ln w="19050">
            <a:solidFill>
              <a:schemeClr val="accent1"/>
            </a:solidFill>
            <a:prstDash val="solid"/>
          </a:ln>
        </p:spPr>
      </p:sp>
      <p:sp>
        <p:nvSpPr>
          <p:cNvPr id="40" name="txt-115"/>
          <p:cNvSpPr txBox="1"/>
          <p:nvPr/>
        </p:nvSpPr>
        <p:spPr>
          <a:xfrm>
            <a:off x="2788920" y="5349240"/>
            <a:ext cx="1874520" cy="5486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Encode as data</a:t>
            </a:r>
            <a:endParaRPr lang="en-US" sz="1400" dirty="0"/>
          </a:p>
        </p:txBody>
      </p:sp>
      <p:sp>
        <p:nvSpPr>
          <p:cNvPr id="41" name="txt-116"/>
          <p:cNvSpPr txBox="1"/>
          <p:nvPr/>
        </p:nvSpPr>
        <p:spPr>
          <a:xfrm>
            <a:off x="4663440" y="5349240"/>
            <a:ext cx="365760" cy="548640"/>
          </a:xfrm>
          <a:prstGeom prst="rect">
            <a:avLst/>
          </a:prstGeom>
          <a:noFill/>
          <a:ln/>
        </p:spPr>
        <p:txBody>
          <a:bodyPr wrap="square" lIns="0" tIns="0" rIns="0" bIns="0" rtlCol="0" anchor="ctr"/>
          <a:lstStyle/>
          <a:p>
            <a:pPr algn="ctr" indent="0" marL="0">
              <a:buNone/>
            </a:pPr>
            <a:r>
              <a:rPr lang="en-US" sz="2000" dirty="0">
                <a:solidFill>
                  <a:schemeClr val="accent6"/>
                </a:solidFill>
                <a:latin typeface="Calibri" pitchFamily="34" charset="0"/>
                <a:ea typeface="Calibri" pitchFamily="34" charset="-122"/>
                <a:cs typeface="Calibri" pitchFamily="34" charset="-120"/>
              </a:rPr>
              <a:t>→</a:t>
            </a:r>
            <a:endParaRPr lang="en-US" sz="2000" dirty="0"/>
          </a:p>
        </p:txBody>
      </p:sp>
      <p:sp>
        <p:nvSpPr>
          <p:cNvPr id="42" name="step-117"/>
          <p:cNvSpPr/>
          <p:nvPr/>
        </p:nvSpPr>
        <p:spPr>
          <a:xfrm>
            <a:off x="5029200" y="5349240"/>
            <a:ext cx="1874520" cy="548640"/>
          </a:xfrm>
          <a:prstGeom prst="roundRect">
            <a:avLst>
              <a:gd name="adj" fmla="val 50000"/>
            </a:avLst>
          </a:prstGeom>
          <a:solidFill>
            <a:schemeClr val="bg1"/>
          </a:solidFill>
          <a:ln w="19050">
            <a:solidFill>
              <a:schemeClr val="accent1"/>
            </a:solidFill>
            <a:prstDash val="solid"/>
          </a:ln>
        </p:spPr>
      </p:sp>
      <p:sp>
        <p:nvSpPr>
          <p:cNvPr id="43" name="txt-118"/>
          <p:cNvSpPr txBox="1"/>
          <p:nvPr/>
        </p:nvSpPr>
        <p:spPr>
          <a:xfrm>
            <a:off x="5029200" y="5349240"/>
            <a:ext cx="1874520" cy="5486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Implement</a:t>
            </a:r>
            <a:endParaRPr lang="en-US" sz="1400" dirty="0"/>
          </a:p>
        </p:txBody>
      </p:sp>
      <p:sp>
        <p:nvSpPr>
          <p:cNvPr id="44" name="txt-119"/>
          <p:cNvSpPr txBox="1"/>
          <p:nvPr/>
        </p:nvSpPr>
        <p:spPr>
          <a:xfrm>
            <a:off x="6903720" y="5349240"/>
            <a:ext cx="365760" cy="548640"/>
          </a:xfrm>
          <a:prstGeom prst="rect">
            <a:avLst/>
          </a:prstGeom>
          <a:noFill/>
          <a:ln/>
        </p:spPr>
        <p:txBody>
          <a:bodyPr wrap="square" lIns="0" tIns="0" rIns="0" bIns="0" rtlCol="0" anchor="ctr"/>
          <a:lstStyle/>
          <a:p>
            <a:pPr algn="ctr" indent="0" marL="0">
              <a:buNone/>
            </a:pPr>
            <a:r>
              <a:rPr lang="en-US" sz="2000" dirty="0">
                <a:solidFill>
                  <a:schemeClr val="accent6"/>
                </a:solidFill>
                <a:latin typeface="Calibri" pitchFamily="34" charset="0"/>
                <a:ea typeface="Calibri" pitchFamily="34" charset="-122"/>
                <a:cs typeface="Calibri" pitchFamily="34" charset="-120"/>
              </a:rPr>
              <a:t>→</a:t>
            </a:r>
            <a:endParaRPr lang="en-US" sz="2000" dirty="0"/>
          </a:p>
        </p:txBody>
      </p:sp>
      <p:sp>
        <p:nvSpPr>
          <p:cNvPr id="45" name="step-120"/>
          <p:cNvSpPr/>
          <p:nvPr/>
        </p:nvSpPr>
        <p:spPr>
          <a:xfrm>
            <a:off x="7269480" y="5349240"/>
            <a:ext cx="1874520" cy="548640"/>
          </a:xfrm>
          <a:prstGeom prst="roundRect">
            <a:avLst>
              <a:gd name="adj" fmla="val 50000"/>
            </a:avLst>
          </a:prstGeom>
          <a:solidFill>
            <a:schemeClr val="bg1"/>
          </a:solidFill>
          <a:ln w="19050">
            <a:solidFill>
              <a:schemeClr val="accent1"/>
            </a:solidFill>
            <a:prstDash val="solid"/>
          </a:ln>
        </p:spPr>
      </p:sp>
      <p:sp>
        <p:nvSpPr>
          <p:cNvPr id="46" name="txt-121"/>
          <p:cNvSpPr txBox="1"/>
          <p:nvPr/>
        </p:nvSpPr>
        <p:spPr>
          <a:xfrm>
            <a:off x="7269480" y="5349240"/>
            <a:ext cx="1874520" cy="5486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Test</a:t>
            </a:r>
            <a:endParaRPr lang="en-US" sz="1400" dirty="0"/>
          </a:p>
        </p:txBody>
      </p:sp>
      <p:sp>
        <p:nvSpPr>
          <p:cNvPr id="47" name="txt-122"/>
          <p:cNvSpPr txBox="1"/>
          <p:nvPr/>
        </p:nvSpPr>
        <p:spPr>
          <a:xfrm>
            <a:off x="9144000" y="5349240"/>
            <a:ext cx="365760" cy="548640"/>
          </a:xfrm>
          <a:prstGeom prst="rect">
            <a:avLst/>
          </a:prstGeom>
          <a:noFill/>
          <a:ln/>
        </p:spPr>
        <p:txBody>
          <a:bodyPr wrap="square" lIns="0" tIns="0" rIns="0" bIns="0" rtlCol="0" anchor="ctr"/>
          <a:lstStyle/>
          <a:p>
            <a:pPr algn="ctr" indent="0" marL="0">
              <a:buNone/>
            </a:pPr>
            <a:r>
              <a:rPr lang="en-US" sz="2000" dirty="0">
                <a:solidFill>
                  <a:schemeClr val="accent6"/>
                </a:solidFill>
                <a:latin typeface="Calibri" pitchFamily="34" charset="0"/>
                <a:ea typeface="Calibri" pitchFamily="34" charset="-122"/>
                <a:cs typeface="Calibri" pitchFamily="34" charset="-120"/>
              </a:rPr>
              <a:t>→</a:t>
            </a:r>
            <a:endParaRPr lang="en-US" sz="2000" dirty="0"/>
          </a:p>
        </p:txBody>
      </p:sp>
      <p:sp>
        <p:nvSpPr>
          <p:cNvPr id="48" name="step-123"/>
          <p:cNvSpPr/>
          <p:nvPr/>
        </p:nvSpPr>
        <p:spPr>
          <a:xfrm>
            <a:off x="9509760" y="5349240"/>
            <a:ext cx="1874520" cy="548640"/>
          </a:xfrm>
          <a:prstGeom prst="roundRect">
            <a:avLst>
              <a:gd name="adj" fmla="val 50000"/>
            </a:avLst>
          </a:prstGeom>
          <a:solidFill>
            <a:schemeClr val="bg1"/>
          </a:solidFill>
          <a:ln w="19050">
            <a:solidFill>
              <a:schemeClr val="accent1"/>
            </a:solidFill>
            <a:prstDash val="solid"/>
          </a:ln>
        </p:spPr>
      </p:sp>
      <p:sp>
        <p:nvSpPr>
          <p:cNvPr id="49" name="txt-124"/>
          <p:cNvSpPr txBox="1"/>
          <p:nvPr/>
        </p:nvSpPr>
        <p:spPr>
          <a:xfrm>
            <a:off x="9509760" y="5349240"/>
            <a:ext cx="1874520" cy="5486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Read the trace &amp; fix</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From policy clause to rule blueprint</a:t>
            </a:r>
            <a:endParaRPr lang="en-US" sz="3200" dirty="0"/>
          </a:p>
        </p:txBody>
      </p:sp>
      <p:sp>
        <p:nvSpPr>
          <p:cNvPr id="3" name="card-125"/>
          <p:cNvSpPr/>
          <p:nvPr/>
        </p:nvSpPr>
        <p:spPr>
          <a:xfrm>
            <a:off x="548640" y="1417320"/>
            <a:ext cx="5120640" cy="4480560"/>
          </a:xfrm>
          <a:prstGeom prst="roundRect">
            <a:avLst>
              <a:gd name="adj" fmla="val 2449"/>
            </a:avLst>
          </a:prstGeom>
          <a:solidFill>
            <a:schemeClr val="bg2"/>
          </a:solidFill>
          <a:ln w="12700">
            <a:solidFill>
              <a:schemeClr val="bg2"/>
            </a:solidFill>
            <a:prstDash val="solid"/>
          </a:ln>
        </p:spPr>
      </p:sp>
      <p:sp>
        <p:nvSpPr>
          <p:cNvPr id="4" name="txt-126"/>
          <p:cNvSpPr txBox="1"/>
          <p:nvPr/>
        </p:nvSpPr>
        <p:spPr>
          <a:xfrm>
            <a:off x="822960" y="1645920"/>
            <a:ext cx="4572000" cy="237744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latin typeface="Calibri" pitchFamily="34" charset="0"/>
                <a:ea typeface="Calibri" pitchFamily="34" charset="-122"/>
                <a:cs typeface="Calibri" pitchFamily="34" charset="-120"/>
              </a:rPr>
              <a:t>Policy wording, clause 5.1.7</a:t>
            </a:r>
            <a:endParaRPr lang="en-US" sz="1600" dirty="0"/>
          </a:p>
          <a:p>
            <a:pPr indent="0" marL="0">
              <a:spcAft>
                <a:spcPts val="800"/>
              </a:spcAft>
              <a:buNone/>
            </a:pPr>
            <a:r>
              <a:rPr lang="en-US" sz="1600" i="1" dirty="0">
                <a:solidFill>
                  <a:schemeClr val="tx1"/>
                </a:solidFill>
                <a:latin typeface="Calibri" pitchFamily="34" charset="0"/>
                <a:ea typeface="Calibri" pitchFamily="34" charset="-122"/>
                <a:cs typeface="Calibri" pitchFamily="34" charset="-120"/>
              </a:rPr>
              <a:t>“Expenses for cosmetic or plastic surgery or any treatment to change appearance unless for reconstruction following an Accident, Burn(s) or Cancer or as part of medically necessary treatment to remove a direct and immediate health risk to the insured.”</a:t>
            </a:r>
            <a:endParaRPr lang="en-US" sz="1600" dirty="0"/>
          </a:p>
        </p:txBody>
      </p:sp>
      <p:sp>
        <p:nvSpPr>
          <p:cNvPr id="5" name="txt-127"/>
          <p:cNvSpPr txBox="1"/>
          <p:nvPr/>
        </p:nvSpPr>
        <p:spPr>
          <a:xfrm>
            <a:off x="822960" y="4343400"/>
            <a:ext cx="4572000" cy="1463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Exceptions are where manual and naive keyword processing go wrong; a rhinoplasty after an accident must be paid.</a:t>
            </a:r>
            <a:endParaRPr lang="en-US" sz="1400" dirty="0"/>
          </a:p>
        </p:txBody>
      </p:sp>
      <p:sp>
        <p:nvSpPr>
          <p:cNvPr id="6" name="txt-128"/>
          <p:cNvSpPr txBox="1"/>
          <p:nvPr/>
        </p:nvSpPr>
        <p:spPr>
          <a:xfrm>
            <a:off x="5715000" y="3200400"/>
            <a:ext cx="548640" cy="640080"/>
          </a:xfrm>
          <a:prstGeom prst="rect">
            <a:avLst/>
          </a:prstGeom>
          <a:noFill/>
          <a:ln/>
        </p:spPr>
        <p:txBody>
          <a:bodyPr wrap="square" lIns="0" tIns="0" rIns="0" bIns="0" rtlCol="0" anchor="ctr"/>
          <a:lstStyle/>
          <a:p>
            <a:pPr algn="ctr" indent="0" marL="0">
              <a:buNone/>
            </a:pPr>
            <a:r>
              <a:rPr lang="en-US" sz="3200" dirty="0">
                <a:solidFill>
                  <a:schemeClr val="accent6"/>
                </a:solidFill>
                <a:latin typeface="Calibri" pitchFamily="34" charset="0"/>
                <a:ea typeface="Calibri" pitchFamily="34" charset="-122"/>
                <a:cs typeface="Calibri" pitchFamily="34" charset="-120"/>
              </a:rPr>
              <a:t>→</a:t>
            </a:r>
            <a:endParaRPr lang="en-US" sz="3200" dirty="0"/>
          </a:p>
        </p:txBody>
      </p:sp>
      <p:graphicFrame>
        <p:nvGraphicFramePr>
          <p:cNvPr id="8" name="tbl-129"/>
          <p:cNvGraphicFramePr>
            <a:graphicFrameLocks noGrp="1"/>
          </p:cNvGraphicFramePr>
          <p:nvPr>
            <p:extLst>
              <p:ext uri="{D42A27DB-BD31-4B8C-83A1-F6EECF244321}">
                <p14:modId xmlns:p14="http://schemas.microsoft.com/office/powerpoint/2010/main" val="1579011935"/>
              </p:ext>
            </p:extLst>
          </p:nvPr>
        </p:nvGraphicFramePr>
        <p:xfrm>
          <a:off x="6355080" y="1417320"/>
          <a:ext cx="5303520" cy="914400"/>
        </p:xfrm>
        <a:graphic>
          <a:graphicData uri="http://schemas.openxmlformats.org/drawingml/2006/table">
            <a:tbl>
              <a:tblPr/>
              <a:tblGrid>
                <a:gridCol w="1737360"/>
                <a:gridCol w="3566160"/>
              </a:tblGrid>
              <a:tr h="438912">
                <a:tc>
                  <a:txBody>
                    <a:bodyPr/>
                    <a:lstStyle/>
                    <a:p>
                      <a:pPr indent="0" marL="0">
                        <a:buNone/>
                      </a:pPr>
                      <a:r>
                        <a:rPr lang="en-US" sz="1400" b="1" dirty="0">
                          <a:solidFill>
                            <a:srgbClr val="FFFFFF"/>
                          </a:solidFill>
                        </a:rPr>
                        <a:t>Field</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B2A4A"/>
                    </a:solidFill>
                  </a:tcPr>
                </a:tc>
                <a:tc>
                  <a:txBody>
                    <a:bodyPr/>
                    <a:lstStyle/>
                    <a:p>
                      <a:pPr indent="0" marL="0">
                        <a:buNone/>
                      </a:pPr>
                      <a:r>
                        <a:rPr lang="en-US" sz="1400" b="1" dirty="0">
                          <a:solidFill>
                            <a:srgbClr val="FFFFFF"/>
                          </a:solidFill>
                        </a:rPr>
                        <a:t>Value</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B2A4A"/>
                    </a:solidFill>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rule_id</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R3_EXCL_007</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gate</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exclusion_validation (Gate 5)</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execution_type</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HYBRID: keyword check, then LLM</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variants</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Classic · Select · Elite</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depends_on</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waiting-period rules</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prompt</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rule + exceptions + claim facts</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438912">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output</a:t>
                      </a:r>
                      <a:endParaRPr lang="en-US" sz="1300" dirty="0">
                        <a:latin typeface="Consolas" charset="0"/>
                        <a:ea typeface="Consolas" charset="0"/>
                        <a:cs typeface="Consolas" charset="0"/>
                      </a:endParaRPr>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400" dirty="0">
                          <a:solidFill>
                            <a:srgbClr val="1F2937"/>
                          </a:solidFill>
                        </a:rPr>
                        <a:t>status · reasoning · confidence</a:t>
                      </a:r>
                      <a:endParaRPr lang="en-US" sz="14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a:t>
            </a:r>
            <a:endParaRPr lang="en-US" sz="3200" dirty="0"/>
          </a:p>
        </p:txBody>
      </p:sp>
      <p:pic>
        <p:nvPicPr>
          <p:cNvPr id="3" name="img-130" descr="Five-layer architecture: React console, FastAPI, adjudication engine, intelligence and tools, data and observability">    </p:cNvPr>
          <p:cNvPicPr>
            <a:picLocks noChangeAspect="1"/>
          </p:cNvPicPr>
          <p:nvPr/>
        </p:nvPicPr>
        <p:blipFill>
          <a:blip r:embed="rId1"/>
          <a:stretch>
            <a:fillRect/>
          </a:stretch>
        </p:blipFill>
        <p:spPr>
          <a:xfrm>
            <a:off x="2069086" y="1188720"/>
            <a:ext cx="8053523" cy="525780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AI planner: the right rules, in the right order</a:t>
            </a:r>
            <a:endParaRPr lang="en-US" sz="3200" dirty="0"/>
          </a:p>
        </p:txBody>
      </p:sp>
      <p:sp>
        <p:nvSpPr>
          <p:cNvPr id="3" name="node-131"/>
          <p:cNvSpPr/>
          <p:nvPr/>
        </p:nvSpPr>
        <p:spPr>
          <a:xfrm>
            <a:off x="640080" y="2990088"/>
            <a:ext cx="914400" cy="512064"/>
          </a:xfrm>
          <a:prstGeom prst="roundRect">
            <a:avLst>
              <a:gd name="adj" fmla="val 17857"/>
            </a:avLst>
          </a:prstGeom>
          <a:solidFill>
            <a:schemeClr val="accent6"/>
          </a:solidFill>
          <a:ln w="12700">
            <a:solidFill>
              <a:schemeClr val="accent6"/>
            </a:solidFill>
            <a:prstDash val="solid"/>
          </a:ln>
        </p:spPr>
      </p:sp>
      <p:sp>
        <p:nvSpPr>
          <p:cNvPr id="4" name="txt-132"/>
          <p:cNvSpPr txBox="1"/>
          <p:nvPr/>
        </p:nvSpPr>
        <p:spPr>
          <a:xfrm>
            <a:off x="640080" y="299008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Policy</a:t>
            </a:r>
            <a:endParaRPr lang="en-US" sz="1100" dirty="0"/>
          </a:p>
        </p:txBody>
      </p:sp>
      <p:sp>
        <p:nvSpPr>
          <p:cNvPr id="5" name="node-133"/>
          <p:cNvSpPr/>
          <p:nvPr/>
        </p:nvSpPr>
        <p:spPr>
          <a:xfrm>
            <a:off x="1664208" y="2990088"/>
            <a:ext cx="914400" cy="512064"/>
          </a:xfrm>
          <a:prstGeom prst="roundRect">
            <a:avLst>
              <a:gd name="adj" fmla="val 17857"/>
            </a:avLst>
          </a:prstGeom>
          <a:solidFill>
            <a:schemeClr val="accent6"/>
          </a:solidFill>
          <a:ln w="12700">
            <a:solidFill>
              <a:schemeClr val="accent6"/>
            </a:solidFill>
            <a:prstDash val="solid"/>
          </a:ln>
        </p:spPr>
      </p:sp>
      <p:sp>
        <p:nvSpPr>
          <p:cNvPr id="6" name="txt-134"/>
          <p:cNvSpPr txBox="1"/>
          <p:nvPr/>
        </p:nvSpPr>
        <p:spPr>
          <a:xfrm>
            <a:off x="1664208" y="299008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Member</a:t>
            </a:r>
            <a:endParaRPr lang="en-US" sz="1100" dirty="0"/>
          </a:p>
        </p:txBody>
      </p:sp>
      <p:sp>
        <p:nvSpPr>
          <p:cNvPr id="7" name="node-135"/>
          <p:cNvSpPr/>
          <p:nvPr/>
        </p:nvSpPr>
        <p:spPr>
          <a:xfrm>
            <a:off x="2688336" y="2990088"/>
            <a:ext cx="914400" cy="512064"/>
          </a:xfrm>
          <a:prstGeom prst="roundRect">
            <a:avLst>
              <a:gd name="adj" fmla="val 17857"/>
            </a:avLst>
          </a:prstGeom>
          <a:solidFill>
            <a:schemeClr val="accent6"/>
          </a:solidFill>
          <a:ln w="12700">
            <a:solidFill>
              <a:schemeClr val="accent6"/>
            </a:solidFill>
            <a:prstDash val="solid"/>
          </a:ln>
        </p:spPr>
      </p:sp>
      <p:sp>
        <p:nvSpPr>
          <p:cNvPr id="8" name="txt-136"/>
          <p:cNvSpPr txBox="1"/>
          <p:nvPr/>
        </p:nvSpPr>
        <p:spPr>
          <a:xfrm>
            <a:off x="2688336" y="299008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Coverage</a:t>
            </a:r>
            <a:endParaRPr lang="en-US" sz="1100" dirty="0"/>
          </a:p>
        </p:txBody>
      </p:sp>
      <p:sp>
        <p:nvSpPr>
          <p:cNvPr id="9" name="node-137"/>
          <p:cNvSpPr/>
          <p:nvPr/>
        </p:nvSpPr>
        <p:spPr>
          <a:xfrm>
            <a:off x="3712464" y="2167128"/>
            <a:ext cx="914400" cy="512064"/>
          </a:xfrm>
          <a:prstGeom prst="roundRect">
            <a:avLst>
              <a:gd name="adj" fmla="val 17857"/>
            </a:avLst>
          </a:prstGeom>
          <a:solidFill>
            <a:schemeClr val="accent2"/>
          </a:solidFill>
          <a:ln w="12700">
            <a:solidFill>
              <a:schemeClr val="accent2"/>
            </a:solidFill>
            <a:prstDash val="solid"/>
          </a:ln>
        </p:spPr>
      </p:sp>
      <p:sp>
        <p:nvSpPr>
          <p:cNvPr id="10" name="txt-138"/>
          <p:cNvSpPr txBox="1"/>
          <p:nvPr/>
        </p:nvSpPr>
        <p:spPr>
          <a:xfrm>
            <a:off x="3712464" y="216712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Initial wait</a:t>
            </a:r>
            <a:endParaRPr lang="en-US" sz="1100" dirty="0"/>
          </a:p>
        </p:txBody>
      </p:sp>
      <p:sp>
        <p:nvSpPr>
          <p:cNvPr id="11" name="node-139"/>
          <p:cNvSpPr/>
          <p:nvPr/>
        </p:nvSpPr>
        <p:spPr>
          <a:xfrm>
            <a:off x="3712464" y="3813048"/>
            <a:ext cx="914400" cy="512064"/>
          </a:xfrm>
          <a:prstGeom prst="roundRect">
            <a:avLst>
              <a:gd name="adj" fmla="val 17857"/>
            </a:avLst>
          </a:prstGeom>
          <a:solidFill>
            <a:schemeClr val="accent2"/>
          </a:solidFill>
          <a:ln w="12700">
            <a:solidFill>
              <a:schemeClr val="accent2"/>
            </a:solidFill>
            <a:prstDash val="solid"/>
          </a:ln>
        </p:spPr>
      </p:sp>
      <p:sp>
        <p:nvSpPr>
          <p:cNvPr id="12" name="txt-140"/>
          <p:cNvSpPr txBox="1"/>
          <p:nvPr/>
        </p:nvSpPr>
        <p:spPr>
          <a:xfrm>
            <a:off x="3712464" y="381304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PED wait</a:t>
            </a:r>
            <a:endParaRPr lang="en-US" sz="1100" dirty="0"/>
          </a:p>
        </p:txBody>
      </p:sp>
      <p:sp>
        <p:nvSpPr>
          <p:cNvPr id="13" name="node-141"/>
          <p:cNvSpPr/>
          <p:nvPr/>
        </p:nvSpPr>
        <p:spPr>
          <a:xfrm>
            <a:off x="4736592" y="1709928"/>
            <a:ext cx="914400" cy="512064"/>
          </a:xfrm>
          <a:prstGeom prst="roundRect">
            <a:avLst>
              <a:gd name="adj" fmla="val 17857"/>
            </a:avLst>
          </a:prstGeom>
          <a:solidFill>
            <a:schemeClr val="accent4"/>
          </a:solidFill>
          <a:ln w="12700">
            <a:solidFill>
              <a:schemeClr val="accent4"/>
            </a:solidFill>
            <a:prstDash val="solid"/>
          </a:ln>
        </p:spPr>
      </p:sp>
      <p:sp>
        <p:nvSpPr>
          <p:cNvPr id="14" name="txt-142"/>
          <p:cNvSpPr txBox="1"/>
          <p:nvPr/>
        </p:nvSpPr>
        <p:spPr>
          <a:xfrm>
            <a:off x="4736592" y="170992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Cosmetic</a:t>
            </a:r>
            <a:endParaRPr lang="en-US" sz="1100" dirty="0"/>
          </a:p>
        </p:txBody>
      </p:sp>
      <p:sp>
        <p:nvSpPr>
          <p:cNvPr id="15" name="node-143"/>
          <p:cNvSpPr/>
          <p:nvPr/>
        </p:nvSpPr>
        <p:spPr>
          <a:xfrm>
            <a:off x="4736592" y="2990088"/>
            <a:ext cx="914400" cy="512064"/>
          </a:xfrm>
          <a:prstGeom prst="roundRect">
            <a:avLst>
              <a:gd name="adj" fmla="val 17857"/>
            </a:avLst>
          </a:prstGeom>
          <a:solidFill>
            <a:schemeClr val="accent4"/>
          </a:solidFill>
          <a:ln w="12700">
            <a:solidFill>
              <a:schemeClr val="accent4"/>
            </a:solidFill>
            <a:prstDash val="solid"/>
          </a:ln>
        </p:spPr>
      </p:sp>
      <p:sp>
        <p:nvSpPr>
          <p:cNvPr id="16" name="txt-144"/>
          <p:cNvSpPr txBox="1"/>
          <p:nvPr/>
        </p:nvSpPr>
        <p:spPr>
          <a:xfrm>
            <a:off x="4736592" y="299008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Maternity</a:t>
            </a:r>
            <a:endParaRPr lang="en-US" sz="1100" dirty="0"/>
          </a:p>
        </p:txBody>
      </p:sp>
      <p:sp>
        <p:nvSpPr>
          <p:cNvPr id="17" name="node-145"/>
          <p:cNvSpPr/>
          <p:nvPr/>
        </p:nvSpPr>
        <p:spPr>
          <a:xfrm>
            <a:off x="4736592" y="4270248"/>
            <a:ext cx="914400" cy="512064"/>
          </a:xfrm>
          <a:prstGeom prst="roundRect">
            <a:avLst>
              <a:gd name="adj" fmla="val 17857"/>
            </a:avLst>
          </a:prstGeom>
          <a:solidFill>
            <a:schemeClr val="accent4"/>
          </a:solidFill>
          <a:ln w="12700">
            <a:solidFill>
              <a:schemeClr val="accent4"/>
            </a:solidFill>
            <a:prstDash val="solid"/>
          </a:ln>
        </p:spPr>
      </p:sp>
      <p:sp>
        <p:nvSpPr>
          <p:cNvPr id="18" name="txt-146"/>
          <p:cNvSpPr txBox="1"/>
          <p:nvPr/>
        </p:nvSpPr>
        <p:spPr>
          <a:xfrm>
            <a:off x="4736592" y="427024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Rest cure</a:t>
            </a:r>
            <a:endParaRPr lang="en-US" sz="1100" dirty="0"/>
          </a:p>
        </p:txBody>
      </p:sp>
      <p:sp>
        <p:nvSpPr>
          <p:cNvPr id="19" name="node-147"/>
          <p:cNvSpPr/>
          <p:nvPr/>
        </p:nvSpPr>
        <p:spPr>
          <a:xfrm>
            <a:off x="5760720" y="2990088"/>
            <a:ext cx="914400" cy="512064"/>
          </a:xfrm>
          <a:prstGeom prst="roundRect">
            <a:avLst>
              <a:gd name="adj" fmla="val 17857"/>
            </a:avLst>
          </a:prstGeom>
          <a:solidFill>
            <a:schemeClr val="accent1"/>
          </a:solidFill>
          <a:ln w="12700">
            <a:solidFill>
              <a:schemeClr val="accent1"/>
            </a:solidFill>
            <a:prstDash val="solid"/>
          </a:ln>
        </p:spPr>
      </p:sp>
      <p:sp>
        <p:nvSpPr>
          <p:cNvPr id="20" name="txt-148"/>
          <p:cNvSpPr txBox="1"/>
          <p:nvPr/>
        </p:nvSpPr>
        <p:spPr>
          <a:xfrm>
            <a:off x="5760720" y="299008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Pro-rata</a:t>
            </a:r>
            <a:endParaRPr lang="en-US" sz="1100" dirty="0"/>
          </a:p>
        </p:txBody>
      </p:sp>
      <p:sp>
        <p:nvSpPr>
          <p:cNvPr id="21" name="node-149"/>
          <p:cNvSpPr/>
          <p:nvPr/>
        </p:nvSpPr>
        <p:spPr>
          <a:xfrm>
            <a:off x="6784848" y="2990088"/>
            <a:ext cx="914400" cy="512064"/>
          </a:xfrm>
          <a:prstGeom prst="roundRect">
            <a:avLst>
              <a:gd name="adj" fmla="val 17857"/>
            </a:avLst>
          </a:prstGeom>
          <a:solidFill>
            <a:schemeClr val="accent1"/>
          </a:solidFill>
          <a:ln w="12700">
            <a:solidFill>
              <a:schemeClr val="accent1"/>
            </a:solidFill>
            <a:prstDash val="solid"/>
          </a:ln>
        </p:spPr>
      </p:sp>
      <p:sp>
        <p:nvSpPr>
          <p:cNvPr id="22" name="txt-150"/>
          <p:cNvSpPr txBox="1"/>
          <p:nvPr/>
        </p:nvSpPr>
        <p:spPr>
          <a:xfrm>
            <a:off x="6784848" y="2990088"/>
            <a:ext cx="914400" cy="51206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Co-pay</a:t>
            </a:r>
            <a:endParaRPr lang="en-US" sz="1100" dirty="0"/>
          </a:p>
        </p:txBody>
      </p:sp>
      <p:sp>
        <p:nvSpPr>
          <p:cNvPr id="23" name="txt-151"/>
          <p:cNvSpPr txBox="1"/>
          <p:nvPr/>
        </p:nvSpPr>
        <p:spPr>
          <a:xfrm>
            <a:off x="640080"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1</a:t>
            </a:r>
            <a:endParaRPr lang="en-US" sz="1100" dirty="0"/>
          </a:p>
        </p:txBody>
      </p:sp>
      <p:sp>
        <p:nvSpPr>
          <p:cNvPr id="24" name="txt-152"/>
          <p:cNvSpPr txBox="1"/>
          <p:nvPr/>
        </p:nvSpPr>
        <p:spPr>
          <a:xfrm>
            <a:off x="1664208"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2</a:t>
            </a:r>
            <a:endParaRPr lang="en-US" sz="1100" dirty="0"/>
          </a:p>
        </p:txBody>
      </p:sp>
      <p:sp>
        <p:nvSpPr>
          <p:cNvPr id="25" name="txt-153"/>
          <p:cNvSpPr txBox="1"/>
          <p:nvPr/>
        </p:nvSpPr>
        <p:spPr>
          <a:xfrm>
            <a:off x="2688336"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3</a:t>
            </a:r>
            <a:endParaRPr lang="en-US" sz="1100" dirty="0"/>
          </a:p>
        </p:txBody>
      </p:sp>
      <p:sp>
        <p:nvSpPr>
          <p:cNvPr id="26" name="txt-154"/>
          <p:cNvSpPr txBox="1"/>
          <p:nvPr/>
        </p:nvSpPr>
        <p:spPr>
          <a:xfrm>
            <a:off x="3712464"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4</a:t>
            </a:r>
            <a:endParaRPr lang="en-US" sz="1100" dirty="0"/>
          </a:p>
        </p:txBody>
      </p:sp>
      <p:sp>
        <p:nvSpPr>
          <p:cNvPr id="27" name="txt-155"/>
          <p:cNvSpPr txBox="1"/>
          <p:nvPr/>
        </p:nvSpPr>
        <p:spPr>
          <a:xfrm>
            <a:off x="4736592"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5</a:t>
            </a:r>
            <a:endParaRPr lang="en-US" sz="1100" dirty="0"/>
          </a:p>
        </p:txBody>
      </p:sp>
      <p:sp>
        <p:nvSpPr>
          <p:cNvPr id="28" name="txt-156"/>
          <p:cNvSpPr txBox="1"/>
          <p:nvPr/>
        </p:nvSpPr>
        <p:spPr>
          <a:xfrm>
            <a:off x="5760720"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6</a:t>
            </a:r>
            <a:endParaRPr lang="en-US" sz="1100" dirty="0"/>
          </a:p>
        </p:txBody>
      </p:sp>
      <p:sp>
        <p:nvSpPr>
          <p:cNvPr id="29" name="txt-157"/>
          <p:cNvSpPr txBox="1"/>
          <p:nvPr/>
        </p:nvSpPr>
        <p:spPr>
          <a:xfrm>
            <a:off x="6784848" y="1463040"/>
            <a:ext cx="91440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Layer 7</a:t>
            </a:r>
            <a:endParaRPr lang="en-US" sz="1100" dirty="0"/>
          </a:p>
        </p:txBody>
      </p:sp>
      <p:sp>
        <p:nvSpPr>
          <p:cNvPr id="30" name="txt-158"/>
          <p:cNvSpPr txBox="1"/>
          <p:nvPr/>
        </p:nvSpPr>
        <p:spPr>
          <a:xfrm>
            <a:off x="640080" y="5120640"/>
            <a:ext cx="7132320" cy="365760"/>
          </a:xfrm>
          <a:prstGeom prst="rect">
            <a:avLst/>
          </a:prstGeom>
          <a:noFill/>
          <a:ln/>
        </p:spPr>
        <p:txBody>
          <a:bodyPr wrap="square" lIns="0" tIns="0" rIns="0" bIns="0" rtlCol="0" anchor="ctr"/>
          <a:lstStyle/>
          <a:p>
            <a:pPr indent="0" marL="0">
              <a:buNone/>
            </a:pPr>
            <a:r>
              <a:rPr lang="en-US" sz="1300" i="1" dirty="0">
                <a:solidFill>
                  <a:schemeClr val="accent4"/>
                </a:solidFill>
                <a:latin typeface="Calibri" pitchFamily="34" charset="0"/>
                <a:ea typeface="Calibri" pitchFamily="34" charset="-122"/>
                <a:cs typeface="Calibri" pitchFamily="34" charset="-120"/>
              </a:rPr>
              <a:t>Steps in the same layer run concurrently</a:t>
            </a:r>
            <a:endParaRPr lang="en-US" sz="1300" dirty="0"/>
          </a:p>
        </p:txBody>
      </p:sp>
      <p:sp>
        <p:nvSpPr>
          <p:cNvPr id="31" name="card-159"/>
          <p:cNvSpPr/>
          <p:nvPr/>
        </p:nvSpPr>
        <p:spPr>
          <a:xfrm>
            <a:off x="7863840" y="1417320"/>
            <a:ext cx="3779215" cy="4480560"/>
          </a:xfrm>
          <a:prstGeom prst="roundRect">
            <a:avLst>
              <a:gd name="adj" fmla="val 2903"/>
            </a:avLst>
          </a:prstGeom>
          <a:solidFill>
            <a:schemeClr val="bg2"/>
          </a:solidFill>
          <a:ln w="12700">
            <a:solidFill>
              <a:schemeClr val="bg2"/>
            </a:solidFill>
            <a:prstDash val="solid"/>
          </a:ln>
        </p:spPr>
      </p:sp>
      <p:sp>
        <p:nvSpPr>
          <p:cNvPr id="32" name="txt-160"/>
          <p:cNvSpPr txBox="1"/>
          <p:nvPr/>
        </p:nvSpPr>
        <p:spPr>
          <a:xfrm>
            <a:off x="8092440" y="1600200"/>
            <a:ext cx="3367735" cy="411480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latin typeface="Calibri" pitchFamily="34" charset="0"/>
                <a:ea typeface="Calibri" pitchFamily="34" charset="-122"/>
                <a:cs typeface="Calibri" pitchFamily="34" charset="-120"/>
              </a:rPr>
              <a:t>How it works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Keep rules for this variant and benefit; drop riders not bought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depends_on links become graph edges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Kahn's topological sort with a priority queue (gate, priority, id): same claim, same plan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Group by DAG depth; run each layer with asyncio.gather and stream results live</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seven-gate pipeline: fail fast, compute exactly</a:t>
            </a:r>
            <a:endParaRPr lang="en-US" sz="3200" dirty="0"/>
          </a:p>
        </p:txBody>
      </p:sp>
      <p:pic>
        <p:nvPicPr>
          <p:cNvPr id="3" name="img-161" descr="Seven gates from policy validation to state update with early-exit rules">    </p:cNvPr>
          <p:cNvPicPr>
            <a:picLocks noChangeAspect="1"/>
          </p:cNvPicPr>
          <p:nvPr/>
        </p:nvPicPr>
        <p:blipFill>
          <a:blip r:embed="rId1"/>
          <a:stretch>
            <a:fillRect/>
          </a:stretch>
        </p:blipFill>
        <p:spPr>
          <a:xfrm>
            <a:off x="548640" y="1188720"/>
            <a:ext cx="11094415" cy="5190601"/>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Using the LLM safely</a:t>
            </a:r>
            <a:endParaRPr lang="en-US" sz="3200" dirty="0"/>
          </a:p>
        </p:txBody>
      </p:sp>
      <p:sp>
        <p:nvSpPr>
          <p:cNvPr id="3" name="dot-162"/>
          <p:cNvSpPr/>
          <p:nvPr/>
        </p:nvSpPr>
        <p:spPr>
          <a:xfrm>
            <a:off x="548640" y="1463040"/>
            <a:ext cx="640080" cy="640080"/>
          </a:xfrm>
          <a:prstGeom prst="ellipse">
            <a:avLst/>
          </a:prstGeom>
          <a:solidFill>
            <a:schemeClr val="accent4"/>
          </a:solidFill>
          <a:ln w="12700">
            <a:solidFill>
              <a:schemeClr val="accent4"/>
            </a:solidFill>
            <a:prstDash val="solid"/>
          </a:ln>
        </p:spPr>
      </p:sp>
      <p:sp>
        <p:nvSpPr>
          <p:cNvPr id="4" name="txt-163"/>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 name="txt-164"/>
          <p:cNvSpPr txBox="1"/>
          <p:nvPr/>
        </p:nvSpPr>
        <p:spPr>
          <a:xfrm>
            <a:off x="1417320" y="1371600"/>
            <a:ext cx="56692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Strict contract</a:t>
            </a:r>
            <a:endParaRPr lang="en-US" sz="1800" dirty="0"/>
          </a:p>
        </p:txBody>
      </p:sp>
      <p:sp>
        <p:nvSpPr>
          <p:cNvPr id="6" name="txt-165"/>
          <p:cNvSpPr txBox="1"/>
          <p:nvPr/>
        </p:nvSpPr>
        <p:spPr>
          <a:xfrm>
            <a:off x="1417320" y="1783080"/>
            <a:ext cx="5669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Rule, exceptions and claim facts in the prompt; JSON-mode reply with status, reasoning and confidence</a:t>
            </a:r>
            <a:endParaRPr lang="en-US" sz="1400" dirty="0"/>
          </a:p>
        </p:txBody>
      </p:sp>
      <p:sp>
        <p:nvSpPr>
          <p:cNvPr id="7" name="dot-166"/>
          <p:cNvSpPr/>
          <p:nvPr/>
        </p:nvSpPr>
        <p:spPr>
          <a:xfrm>
            <a:off x="548640" y="2606040"/>
            <a:ext cx="640080" cy="640080"/>
          </a:xfrm>
          <a:prstGeom prst="ellipse">
            <a:avLst/>
          </a:prstGeom>
          <a:solidFill>
            <a:schemeClr val="accent4"/>
          </a:solidFill>
          <a:ln w="12700">
            <a:solidFill>
              <a:schemeClr val="accent4"/>
            </a:solidFill>
            <a:prstDash val="solid"/>
          </a:ln>
        </p:spPr>
      </p:sp>
      <p:sp>
        <p:nvSpPr>
          <p:cNvPr id="8" name="txt-167"/>
          <p:cNvSpPr txBox="1"/>
          <p:nvPr/>
        </p:nvSpPr>
        <p:spPr>
          <a:xfrm>
            <a:off x="548640" y="2606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9" name="txt-168"/>
          <p:cNvSpPr txBox="1"/>
          <p:nvPr/>
        </p:nvSpPr>
        <p:spPr>
          <a:xfrm>
            <a:off x="1417320" y="2514600"/>
            <a:ext cx="56692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Validate everything</a:t>
            </a:r>
            <a:endParaRPr lang="en-US" sz="1800" dirty="0"/>
          </a:p>
        </p:txBody>
      </p:sp>
      <p:sp>
        <p:nvSpPr>
          <p:cNvPr id="10" name="txt-169"/>
          <p:cNvSpPr txBox="1"/>
          <p:nvPr/>
        </p:nvSpPr>
        <p:spPr>
          <a:xfrm>
            <a:off x="1417320" y="2926080"/>
            <a:ext cx="5669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Pydantic checks the reply; anything invalid becomes a review, never a decision</a:t>
            </a:r>
            <a:endParaRPr lang="en-US" sz="1400" dirty="0"/>
          </a:p>
        </p:txBody>
      </p:sp>
      <p:sp>
        <p:nvSpPr>
          <p:cNvPr id="11" name="dot-170"/>
          <p:cNvSpPr/>
          <p:nvPr/>
        </p:nvSpPr>
        <p:spPr>
          <a:xfrm>
            <a:off x="548640" y="3749040"/>
            <a:ext cx="640080" cy="640080"/>
          </a:xfrm>
          <a:prstGeom prst="ellipse">
            <a:avLst/>
          </a:prstGeom>
          <a:solidFill>
            <a:schemeClr val="accent4"/>
          </a:solidFill>
          <a:ln w="12700">
            <a:solidFill>
              <a:schemeClr val="accent4"/>
            </a:solidFill>
            <a:prstDash val="solid"/>
          </a:ln>
        </p:spPr>
      </p:sp>
      <p:sp>
        <p:nvSpPr>
          <p:cNvPr id="12" name="txt-171"/>
          <p:cNvSpPr txBox="1"/>
          <p:nvPr/>
        </p:nvSpPr>
        <p:spPr>
          <a:xfrm>
            <a:off x="548640" y="3749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3" name="txt-172"/>
          <p:cNvSpPr txBox="1"/>
          <p:nvPr/>
        </p:nvSpPr>
        <p:spPr>
          <a:xfrm>
            <a:off x="1417320" y="3657600"/>
            <a:ext cx="56692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Repeatable</a:t>
            </a:r>
            <a:endParaRPr lang="en-US" sz="1800" dirty="0"/>
          </a:p>
        </p:txBody>
      </p:sp>
      <p:sp>
        <p:nvSpPr>
          <p:cNvPr id="14" name="txt-173"/>
          <p:cNvSpPr txBox="1"/>
          <p:nvPr/>
        </p:nvSpPr>
        <p:spPr>
          <a:xfrm>
            <a:off x="1417320" y="4069080"/>
            <a:ext cx="5669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Temperature 0, fixed seed, full prompt-and-reply log</a:t>
            </a:r>
            <a:endParaRPr lang="en-US" sz="1400" dirty="0"/>
          </a:p>
        </p:txBody>
      </p:sp>
      <p:sp>
        <p:nvSpPr>
          <p:cNvPr id="15" name="dot-174"/>
          <p:cNvSpPr/>
          <p:nvPr/>
        </p:nvSpPr>
        <p:spPr>
          <a:xfrm>
            <a:off x="548640" y="4892040"/>
            <a:ext cx="640080" cy="640080"/>
          </a:xfrm>
          <a:prstGeom prst="ellipse">
            <a:avLst/>
          </a:prstGeom>
          <a:solidFill>
            <a:schemeClr val="accent4"/>
          </a:solidFill>
          <a:ln w="12700">
            <a:solidFill>
              <a:schemeClr val="accent4"/>
            </a:solidFill>
            <a:prstDash val="solid"/>
          </a:ln>
        </p:spPr>
      </p:sp>
      <p:sp>
        <p:nvSpPr>
          <p:cNvPr id="16" name="txt-175"/>
          <p:cNvSpPr txBox="1"/>
          <p:nvPr/>
        </p:nvSpPr>
        <p:spPr>
          <a:xfrm>
            <a:off x="548640" y="4892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17" name="txt-176"/>
          <p:cNvSpPr txBox="1"/>
          <p:nvPr/>
        </p:nvSpPr>
        <p:spPr>
          <a:xfrm>
            <a:off x="1417320" y="4800600"/>
            <a:ext cx="56692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Three providers</a:t>
            </a:r>
            <a:endParaRPr lang="en-US" sz="1800" dirty="0"/>
          </a:p>
        </p:txBody>
      </p:sp>
      <p:sp>
        <p:nvSpPr>
          <p:cNvPr id="18" name="txt-177"/>
          <p:cNvSpPr txBox="1"/>
          <p:nvPr/>
        </p:nvSpPr>
        <p:spPr>
          <a:xfrm>
            <a:off x="1417320" y="5212080"/>
            <a:ext cx="5669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Groq Qwen3.8 27B (cloud) · llama.cpp Gemma 4 (on-premise) · offline mock</a:t>
            </a:r>
            <a:endParaRPr lang="en-US" sz="1400" dirty="0"/>
          </a:p>
        </p:txBody>
      </p:sp>
      <p:sp>
        <p:nvSpPr>
          <p:cNvPr id="19" name="card-178"/>
          <p:cNvSpPr/>
          <p:nvPr/>
        </p:nvSpPr>
        <p:spPr>
          <a:xfrm>
            <a:off x="7406640" y="1417320"/>
            <a:ext cx="4236415" cy="4480560"/>
          </a:xfrm>
          <a:prstGeom prst="roundRect">
            <a:avLst>
              <a:gd name="adj" fmla="val 2590"/>
            </a:avLst>
          </a:prstGeom>
          <a:solidFill>
            <a:schemeClr val="tx2"/>
          </a:solidFill>
          <a:ln w="12700">
            <a:solidFill>
              <a:schemeClr val="tx2"/>
            </a:solidFill>
            <a:prstDash val="solid"/>
          </a:ln>
        </p:spPr>
      </p:sp>
      <p:sp>
        <p:nvSpPr>
          <p:cNvPr id="20" name="txt-179"/>
          <p:cNvSpPr txBox="1"/>
          <p:nvPr/>
        </p:nvSpPr>
        <p:spPr>
          <a:xfrm>
            <a:off x="7680960" y="1645920"/>
            <a:ext cx="3840480" cy="45720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Batched screening</a:t>
            </a:r>
            <a:endParaRPr lang="en-US" sz="1800" dirty="0"/>
          </a:p>
        </p:txBody>
      </p:sp>
      <p:sp>
        <p:nvSpPr>
          <p:cNvPr id="21" name="txt-180"/>
          <p:cNvSpPr txBox="1"/>
          <p:nvPr/>
        </p:nvSpPr>
        <p:spPr>
          <a:xfrm>
            <a:off x="7680960" y="2194560"/>
            <a:ext cx="3840480" cy="1188720"/>
          </a:xfrm>
          <a:prstGeom prst="rect">
            <a:avLst/>
          </a:prstGeom>
          <a:noFill/>
          <a:ln/>
        </p:spPr>
        <p:txBody>
          <a:bodyPr wrap="square" lIns="0" tIns="0" rIns="0" bIns="0" rtlCol="0" anchor="ctr"/>
          <a:lstStyle/>
          <a:p>
            <a:pPr indent="0" marL="0">
              <a:buNone/>
            </a:pPr>
            <a:r>
              <a:rPr lang="en-US" sz="6000" b="1" dirty="0">
                <a:solidFill>
                  <a:srgbClr val="CADCFC"/>
                </a:solidFill>
                <a:latin typeface="Cambria" pitchFamily="34" charset="0"/>
                <a:ea typeface="Cambria" pitchFamily="34" charset="-122"/>
                <a:cs typeface="Cambria" pitchFamily="34" charset="-120"/>
              </a:rPr>
              <a:t>11</a:t>
            </a:r>
            <a:pPr indent="0" marL="0">
              <a:buNone/>
            </a:pPr>
            <a:r>
              <a:rPr lang="en-US" sz="3600" dirty="0">
                <a:solidFill>
                  <a:srgbClr val="CADCFC"/>
                </a:solidFill>
                <a:latin typeface="Cambria" pitchFamily="34" charset="0"/>
                <a:ea typeface="Cambria" pitchFamily="34" charset="-122"/>
                <a:cs typeface="Cambria" pitchFamily="34" charset="-120"/>
              </a:rPr>
              <a:t>  →  </a:t>
            </a:r>
            <a:pPr indent="0" marL="0">
              <a:buNone/>
            </a:pPr>
            <a:r>
              <a:rPr lang="en-US" sz="6000" b="1" dirty="0">
                <a:solidFill>
                  <a:srgbClr val="E08E0B"/>
                </a:solidFill>
                <a:latin typeface="Cambria" pitchFamily="34" charset="0"/>
                <a:ea typeface="Cambria" pitchFamily="34" charset="-122"/>
                <a:cs typeface="Cambria" pitchFamily="34" charset="-120"/>
              </a:rPr>
              <a:t>1</a:t>
            </a:r>
            <a:endParaRPr lang="en-US" sz="6000" dirty="0"/>
          </a:p>
        </p:txBody>
      </p:sp>
      <p:sp>
        <p:nvSpPr>
          <p:cNvPr id="22" name="txt-181"/>
          <p:cNvSpPr txBox="1"/>
          <p:nvPr/>
        </p:nvSpPr>
        <p:spPr>
          <a:xfrm>
            <a:off x="7680960" y="3520440"/>
            <a:ext cx="3840480" cy="21945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LLM calls per line item. All exclusion rules are judged in one call; any rule the batch misses falls back to its own call. A claim now takes about 1.5–3.5 s on the free tier.</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Confidence decides who decides</a:t>
            </a:r>
            <a:endParaRPr lang="en-US" sz="3200" dirty="0"/>
          </a:p>
        </p:txBody>
      </p:sp>
      <p:pic>
        <p:nvPicPr>
          <p:cNvPr id="3" name="img-182" descr="Four confidence tiers: auto above 0.90, assisted review 0.70 to 0.90, medical review 0.50 to 0.70, pending review below 0.50">    </p:cNvPr>
          <p:cNvPicPr>
            <a:picLocks noChangeAspect="1"/>
          </p:cNvPicPr>
          <p:nvPr/>
        </p:nvPicPr>
        <p:blipFill>
          <a:blip r:embed="rId1"/>
          <a:stretch>
            <a:fillRect/>
          </a:stretch>
        </p:blipFill>
        <p:spPr>
          <a:xfrm>
            <a:off x="548640" y="1325880"/>
            <a:ext cx="11094415" cy="1965296"/>
          </a:xfrm>
          <a:prstGeom prst="rect">
            <a:avLst/>
          </a:prstGeom>
        </p:spPr>
      </p:pic>
      <p:sp>
        <p:nvSpPr>
          <p:cNvPr id="4" name="txt-183"/>
          <p:cNvSpPr txBox="1"/>
          <p:nvPr/>
        </p:nvSpPr>
        <p:spPr>
          <a:xfrm>
            <a:off x="548640" y="5029200"/>
            <a:ext cx="11094415"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Gate 6 can also refer a claim directly when data needed for the maths is missing, e.g. the hospitalisation dates for a post-hospitalisation window. Thresholds live in .env and change without a release.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Demo: room-rent breach on the live LLM</a:t>
            </a:r>
            <a:endParaRPr lang="en-US" sz="3200" dirty="0"/>
          </a:p>
        </p:txBody>
      </p:sp>
      <p:pic>
        <p:nvPicPr>
          <p:cNvPr id="3" name="img-184" descr="Console showing partial approval, financial waterfall and AI explanation for scenario 1">    </p:cNvPr>
          <p:cNvPicPr>
            <a:picLocks noChangeAspect="1"/>
          </p:cNvPicPr>
          <p:nvPr/>
        </p:nvPicPr>
        <p:blipFill>
          <a:blip r:embed="rId1"/>
          <a:stretch>
            <a:fillRect/>
          </a:stretch>
        </p:blipFill>
        <p:spPr>
          <a:xfrm>
            <a:off x="548640" y="1234440"/>
            <a:ext cx="7498080" cy="4686300"/>
          </a:xfrm>
          <a:prstGeom prst="rect">
            <a:avLst/>
          </a:prstGeom>
          <a:effectLst>
            <a:outerShdw sx="100000" sy="100000" kx="0" ky="0" algn="bl" rotWithShape="0" blurRad="101600" dist="25400" dir="5400000">
              <a:srgbClr val="1B2A4A">
                <a:alpha val="18000"/>
              </a:srgbClr>
            </a:outerShdw>
          </a:effectLst>
        </p:spPr>
      </p:pic>
      <p:sp>
        <p:nvSpPr>
          <p:cNvPr id="4" name="card-185"/>
          <p:cNvSpPr/>
          <p:nvPr/>
        </p:nvSpPr>
        <p:spPr>
          <a:xfrm>
            <a:off x="8321040" y="1234440"/>
            <a:ext cx="3322015" cy="5120640"/>
          </a:xfrm>
          <a:prstGeom prst="roundRect">
            <a:avLst>
              <a:gd name="adj" fmla="val 3303"/>
            </a:avLst>
          </a:prstGeom>
          <a:solidFill>
            <a:schemeClr val="bg2"/>
          </a:solidFill>
          <a:ln w="12700">
            <a:solidFill>
              <a:schemeClr val="bg2"/>
            </a:solidFill>
            <a:prstDash val="solid"/>
          </a:ln>
        </p:spPr>
      </p:sp>
      <p:sp>
        <p:nvSpPr>
          <p:cNvPr id="5" name="txt-186"/>
          <p:cNvSpPr txBox="1"/>
          <p:nvPr/>
        </p:nvSpPr>
        <p:spPr>
          <a:xfrm>
            <a:off x="8503920" y="1417320"/>
            <a:ext cx="2956255" cy="475488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latin typeface="Calibri" pitchFamily="34" charset="0"/>
                <a:ea typeface="Calibri" pitchFamily="34" charset="-122"/>
                <a:cs typeface="Calibri" pitchFamily="34" charset="-120"/>
              </a:rPr>
              <a:t>Classic member, entitled to a single room, took a suite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Claimed ₹54,000</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Pro-rata 3,000/12,000 = 0.25 → ₹40,500 deducted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Co-pay 80% stacked: 10% base + 50% room category + 20% tiered network</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Payable ₹2,700, explained in plain language by the LLM</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Ten scenarios, end to end, on the live LLM</a:t>
            </a:r>
            <a:endParaRPr lang="en-US" sz="3200" dirty="0"/>
          </a:p>
        </p:txBody>
      </p:sp>
      <p:graphicFrame>
        <p:nvGraphicFramePr>
          <p:cNvPr id="15" name="tbl-187"/>
          <p:cNvGraphicFramePr>
            <a:graphicFrameLocks noGrp="1"/>
          </p:cNvGraphicFramePr>
          <p:nvPr>
            <p:extLst>
              <p:ext uri="{D42A27DB-BD31-4B8C-83A1-F6EECF244321}">
                <p14:modId xmlns:p14="http://schemas.microsoft.com/office/powerpoint/2010/main" val="1579011935"/>
              </p:ext>
            </p:extLst>
          </p:nvPr>
        </p:nvGraphicFramePr>
        <p:xfrm>
          <a:off x="548640" y="1280160"/>
          <a:ext cx="7680960" cy="914400"/>
        </p:xfrm>
        <a:graphic>
          <a:graphicData uri="http://schemas.openxmlformats.org/drawingml/2006/table">
            <a:tbl>
              <a:tblPr/>
              <a:tblGrid>
                <a:gridCol w="3291840"/>
                <a:gridCol w="2194560"/>
                <a:gridCol w="1097280"/>
                <a:gridCol w="1097280"/>
              </a:tblGrid>
              <a:tr h="393192">
                <a:tc>
                  <a:txBody>
                    <a:bodyPr/>
                    <a:lstStyle/>
                    <a:p>
                      <a:pPr indent="0" marL="0">
                        <a:buNone/>
                      </a:pPr>
                      <a:r>
                        <a:rPr lang="en-US" sz="1300" b="1" dirty="0">
                          <a:solidFill>
                            <a:srgbClr val="FFFFFF"/>
                          </a:solidFill>
                        </a:rPr>
                        <a:t>Scenario</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rPr>
                        <a:t>Decision</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rPr>
                        <a:t>Claimed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rPr>
                        <a:t>Payable</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B2A4A"/>
                    </a:solidFill>
                  </a:tcPr>
                </a:tc>
              </a:tr>
              <a:tr h="393192">
                <a:tc>
                  <a:txBody>
                    <a:bodyPr/>
                    <a:lstStyle/>
                    <a:p>
                      <a:pPr indent="0" marL="0">
                        <a:buNone/>
                      </a:pPr>
                      <a:r>
                        <a:rPr lang="en-US" sz="1300" dirty="0">
                          <a:solidFill>
                            <a:srgbClr val="1F2937"/>
                          </a:solidFill>
                        </a:rPr>
                        <a:t>Room-rent pro-rata breach</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00897B"/>
                          </a:solidFill>
                        </a:rPr>
                        <a:t>PARTIALLY 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₹54,000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₹2,700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Lapsed policy</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C62828"/>
                          </a:solidFill>
                        </a:rPr>
                        <a:t>REJECTED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₹80,000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Post-hospitalisation, missing dates</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E08E0B"/>
                          </a:solidFill>
                        </a:rPr>
                        <a:t>ASSISTED REVIEW</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₹8,000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ReAssure Forever waterfall</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2E7D32"/>
                          </a:solidFill>
                        </a:rPr>
                        <a:t>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₹12,00,000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₹12,00,000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Clean approval</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2E7D32"/>
                          </a:solidFill>
                        </a:rPr>
                        <a:t>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₹1,00,000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₹1,00,000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Multi-line, one item excluded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00897B"/>
                          </a:solidFill>
                        </a:rPr>
                        <a:t>PARTIALLY 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₹1,72,500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₹1,54,500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Deductible applied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00897B"/>
                          </a:solidFill>
                        </a:rPr>
                        <a:t>PARTIALLY 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₹50,000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₹40,000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Suite upgrade + co-pay</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00897B"/>
                          </a:solidFill>
                        </a:rPr>
                        <a:t>PARTIALLY 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₹2,50,000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₹41,670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Porting credit waiver</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2E7D32"/>
                          </a:solidFill>
                        </a:rPr>
                        <a:t>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₹60,000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₹60,000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393192">
                <a:tc>
                  <a:txBody>
                    <a:bodyPr/>
                    <a:lstStyle/>
                    <a:p>
                      <a:pPr indent="0" marL="0">
                        <a:buNone/>
                      </a:pPr>
                      <a:r>
                        <a:rPr lang="en-US" sz="1300" dirty="0">
                          <a:solidFill>
                            <a:srgbClr val="1F2937"/>
                          </a:solidFill>
                        </a:rPr>
                        <a:t>Tiered network penalty</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00897B"/>
                          </a:solidFill>
                        </a:rPr>
                        <a:t>PARTIALLY APPROVED</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₹1,20,000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algn="r" indent="0" marL="0">
                        <a:buNone/>
                      </a:pPr>
                      <a:r>
                        <a:rPr lang="en-US" sz="1300" dirty="0">
                          <a:solidFill>
                            <a:srgbClr val="1F2937"/>
                          </a:solidFill>
                        </a:rPr>
                        <a:t>₹96,000</a:t>
                      </a:r>
                      <a:endParaRPr lang="en-US" sz="1300" dirty="0"/>
                    </a:p>
                  </a:txBody>
                  <a:tcPr marL="91440" marR="91440" marT="45720" marB="45720">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bl>
          </a:graphicData>
        </a:graphic>
      </p:graphicFrame>
      <p:sp>
        <p:nvSpPr>
          <p:cNvPr id="4" name="txt-188"/>
          <p:cNvSpPr txBox="1"/>
          <p:nvPr/>
        </p:nvSpPr>
        <p:spPr>
          <a:xfrm>
            <a:off x="8778240" y="1371600"/>
            <a:ext cx="28346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77</a:t>
            </a:r>
            <a:endParaRPr lang="en-US" sz="4800" dirty="0"/>
          </a:p>
        </p:txBody>
      </p:sp>
      <p:sp>
        <p:nvSpPr>
          <p:cNvPr id="5" name="txt-189"/>
          <p:cNvSpPr txBox="1"/>
          <p:nvPr/>
        </p:nvSpPr>
        <p:spPr>
          <a:xfrm>
            <a:off x="8778240" y="2240280"/>
            <a:ext cx="2834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automated tests passing, incl. property-based tests of the money</a:t>
            </a:r>
            <a:endParaRPr lang="en-US" sz="1400" dirty="0"/>
          </a:p>
        </p:txBody>
      </p:sp>
      <p:sp>
        <p:nvSpPr>
          <p:cNvPr id="6" name="txt-190"/>
          <p:cNvSpPr txBox="1"/>
          <p:nvPr/>
        </p:nvSpPr>
        <p:spPr>
          <a:xfrm>
            <a:off x="8778240" y="3063240"/>
            <a:ext cx="2834640" cy="86868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10/10</a:t>
            </a:r>
            <a:endParaRPr lang="en-US" sz="4800" dirty="0"/>
          </a:p>
        </p:txBody>
      </p:sp>
      <p:sp>
        <p:nvSpPr>
          <p:cNvPr id="7" name="txt-191"/>
          <p:cNvSpPr txBox="1"/>
          <p:nvPr/>
        </p:nvSpPr>
        <p:spPr>
          <a:xfrm>
            <a:off x="8778240" y="3931920"/>
            <a:ext cx="2834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scenarios match the deterministic offline mode</a:t>
            </a:r>
            <a:endParaRPr lang="en-US" sz="1400" dirty="0"/>
          </a:p>
        </p:txBody>
      </p:sp>
      <p:sp>
        <p:nvSpPr>
          <p:cNvPr id="8" name="txt-192"/>
          <p:cNvSpPr txBox="1"/>
          <p:nvPr/>
        </p:nvSpPr>
        <p:spPr>
          <a:xfrm>
            <a:off x="8778240" y="4754880"/>
            <a:ext cx="283464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~3 s</a:t>
            </a:r>
            <a:endParaRPr lang="en-US" sz="4800" dirty="0"/>
          </a:p>
        </p:txBody>
      </p:sp>
      <p:sp>
        <p:nvSpPr>
          <p:cNvPr id="9" name="txt-193"/>
          <p:cNvSpPr txBox="1"/>
          <p:nvPr/>
        </p:nvSpPr>
        <p:spPr>
          <a:xfrm>
            <a:off x="8778240" y="5623560"/>
            <a:ext cx="2834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per claim on the free cloud tier</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Testing found what unit tests missed</a:t>
            </a:r>
            <a:endParaRPr lang="en-US" sz="3200" dirty="0"/>
          </a:p>
        </p:txBody>
      </p:sp>
      <p:sp>
        <p:nvSpPr>
          <p:cNvPr id="3" name="card-194"/>
          <p:cNvSpPr/>
          <p:nvPr/>
        </p:nvSpPr>
        <p:spPr>
          <a:xfrm>
            <a:off x="548640" y="1371600"/>
            <a:ext cx="5120640" cy="777240"/>
          </a:xfrm>
          <a:prstGeom prst="roundRect">
            <a:avLst>
              <a:gd name="adj" fmla="val 14118"/>
            </a:avLst>
          </a:prstGeom>
          <a:solidFill>
            <a:schemeClr val="bg2"/>
          </a:solidFill>
          <a:ln w="12700">
            <a:solidFill>
              <a:schemeClr val="bg2"/>
            </a:solidFill>
            <a:prstDash val="solid"/>
          </a:ln>
        </p:spPr>
      </p:sp>
      <p:sp>
        <p:nvSpPr>
          <p:cNvPr id="4" name="txt-195"/>
          <p:cNvSpPr txBox="1"/>
          <p:nvPr/>
        </p:nvSpPr>
        <p:spPr>
          <a:xfrm>
            <a:off x="777240" y="1371600"/>
            <a:ext cx="155448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Unit</a:t>
            </a:r>
            <a:endParaRPr lang="en-US" sz="1500" dirty="0"/>
          </a:p>
        </p:txBody>
      </p:sp>
      <p:sp>
        <p:nvSpPr>
          <p:cNvPr id="5" name="txt-196"/>
          <p:cNvSpPr txBox="1"/>
          <p:nvPr/>
        </p:nvSpPr>
        <p:spPr>
          <a:xfrm>
            <a:off x="2331720" y="1371600"/>
            <a:ext cx="3200400" cy="7772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calculators, gates</a:t>
            </a:r>
            <a:endParaRPr lang="en-US" sz="1300" dirty="0"/>
          </a:p>
        </p:txBody>
      </p:sp>
      <p:sp>
        <p:nvSpPr>
          <p:cNvPr id="6" name="card-197"/>
          <p:cNvSpPr/>
          <p:nvPr/>
        </p:nvSpPr>
        <p:spPr>
          <a:xfrm>
            <a:off x="548640" y="2304288"/>
            <a:ext cx="5120640" cy="777240"/>
          </a:xfrm>
          <a:prstGeom prst="roundRect">
            <a:avLst>
              <a:gd name="adj" fmla="val 14118"/>
            </a:avLst>
          </a:prstGeom>
          <a:solidFill>
            <a:schemeClr val="bg2"/>
          </a:solidFill>
          <a:ln w="12700">
            <a:solidFill>
              <a:schemeClr val="bg2"/>
            </a:solidFill>
            <a:prstDash val="solid"/>
          </a:ln>
        </p:spPr>
      </p:sp>
      <p:sp>
        <p:nvSpPr>
          <p:cNvPr id="7" name="txt-198"/>
          <p:cNvSpPr txBox="1"/>
          <p:nvPr/>
        </p:nvSpPr>
        <p:spPr>
          <a:xfrm>
            <a:off x="777240" y="2304288"/>
            <a:ext cx="155448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Property</a:t>
            </a:r>
            <a:endParaRPr lang="en-US" sz="1500" dirty="0"/>
          </a:p>
        </p:txBody>
      </p:sp>
      <p:sp>
        <p:nvSpPr>
          <p:cNvPr id="8" name="txt-199"/>
          <p:cNvSpPr txBox="1"/>
          <p:nvPr/>
        </p:nvSpPr>
        <p:spPr>
          <a:xfrm>
            <a:off x="2331720" y="2304288"/>
            <a:ext cx="3200400" cy="7772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Hypothesis: money conserved, ratios bounded, pools never negative</a:t>
            </a:r>
            <a:endParaRPr lang="en-US" sz="1300" dirty="0"/>
          </a:p>
        </p:txBody>
      </p:sp>
      <p:sp>
        <p:nvSpPr>
          <p:cNvPr id="9" name="card-200"/>
          <p:cNvSpPr/>
          <p:nvPr/>
        </p:nvSpPr>
        <p:spPr>
          <a:xfrm>
            <a:off x="548640" y="3236976"/>
            <a:ext cx="5120640" cy="777240"/>
          </a:xfrm>
          <a:prstGeom prst="roundRect">
            <a:avLst>
              <a:gd name="adj" fmla="val 14118"/>
            </a:avLst>
          </a:prstGeom>
          <a:solidFill>
            <a:schemeClr val="bg2"/>
          </a:solidFill>
          <a:ln w="12700">
            <a:solidFill>
              <a:schemeClr val="bg2"/>
            </a:solidFill>
            <a:prstDash val="solid"/>
          </a:ln>
        </p:spPr>
      </p:sp>
      <p:sp>
        <p:nvSpPr>
          <p:cNvPr id="10" name="txt-201"/>
          <p:cNvSpPr txBox="1"/>
          <p:nvPr/>
        </p:nvSpPr>
        <p:spPr>
          <a:xfrm>
            <a:off x="777240" y="3236976"/>
            <a:ext cx="155448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Scenario</a:t>
            </a:r>
            <a:endParaRPr lang="en-US" sz="1500" dirty="0"/>
          </a:p>
        </p:txBody>
      </p:sp>
      <p:sp>
        <p:nvSpPr>
          <p:cNvPr id="11" name="txt-202"/>
          <p:cNvSpPr txBox="1"/>
          <p:nvPr/>
        </p:nvSpPr>
        <p:spPr>
          <a:xfrm>
            <a:off x="2331720" y="3236976"/>
            <a:ext cx="3200400" cy="7772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whole claims, offline LLM</a:t>
            </a:r>
            <a:endParaRPr lang="en-US" sz="1300" dirty="0"/>
          </a:p>
        </p:txBody>
      </p:sp>
      <p:sp>
        <p:nvSpPr>
          <p:cNvPr id="12" name="card-203"/>
          <p:cNvSpPr/>
          <p:nvPr/>
        </p:nvSpPr>
        <p:spPr>
          <a:xfrm>
            <a:off x="548640" y="4169664"/>
            <a:ext cx="5120640" cy="777240"/>
          </a:xfrm>
          <a:prstGeom prst="roundRect">
            <a:avLst>
              <a:gd name="adj" fmla="val 14118"/>
            </a:avLst>
          </a:prstGeom>
          <a:solidFill>
            <a:schemeClr val="bg2"/>
          </a:solidFill>
          <a:ln w="12700">
            <a:solidFill>
              <a:schemeClr val="bg2"/>
            </a:solidFill>
            <a:prstDash val="solid"/>
          </a:ln>
        </p:spPr>
      </p:sp>
      <p:sp>
        <p:nvSpPr>
          <p:cNvPr id="13" name="txt-204"/>
          <p:cNvSpPr txBox="1"/>
          <p:nvPr/>
        </p:nvSpPr>
        <p:spPr>
          <a:xfrm>
            <a:off x="777240" y="4169664"/>
            <a:ext cx="155448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API / provider</a:t>
            </a:r>
            <a:endParaRPr lang="en-US" sz="1500" dirty="0"/>
          </a:p>
        </p:txBody>
      </p:sp>
      <p:sp>
        <p:nvSpPr>
          <p:cNvPr id="14" name="txt-205"/>
          <p:cNvSpPr txBox="1"/>
          <p:nvPr/>
        </p:nvSpPr>
        <p:spPr>
          <a:xfrm>
            <a:off x="2331720" y="4169664"/>
            <a:ext cx="3200400" cy="7772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endpoints, SSE, Groq, batching fallback</a:t>
            </a:r>
            <a:endParaRPr lang="en-US" sz="1300" dirty="0"/>
          </a:p>
        </p:txBody>
      </p:sp>
      <p:sp>
        <p:nvSpPr>
          <p:cNvPr id="15" name="card-206"/>
          <p:cNvSpPr/>
          <p:nvPr/>
        </p:nvSpPr>
        <p:spPr>
          <a:xfrm>
            <a:off x="548640" y="5102352"/>
            <a:ext cx="5120640" cy="777240"/>
          </a:xfrm>
          <a:prstGeom prst="roundRect">
            <a:avLst>
              <a:gd name="adj" fmla="val 14118"/>
            </a:avLst>
          </a:prstGeom>
          <a:solidFill>
            <a:schemeClr val="bg2"/>
          </a:solidFill>
          <a:ln w="12700">
            <a:solidFill>
              <a:schemeClr val="bg2"/>
            </a:solidFill>
            <a:prstDash val="solid"/>
          </a:ln>
        </p:spPr>
      </p:sp>
      <p:sp>
        <p:nvSpPr>
          <p:cNvPr id="16" name="txt-207"/>
          <p:cNvSpPr txBox="1"/>
          <p:nvPr/>
        </p:nvSpPr>
        <p:spPr>
          <a:xfrm>
            <a:off x="777240" y="5102352"/>
            <a:ext cx="155448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End to end</a:t>
            </a:r>
            <a:endParaRPr lang="en-US" sz="1500" dirty="0"/>
          </a:p>
        </p:txBody>
      </p:sp>
      <p:sp>
        <p:nvSpPr>
          <p:cNvPr id="17" name="txt-208"/>
          <p:cNvSpPr txBox="1"/>
          <p:nvPr/>
        </p:nvSpPr>
        <p:spPr>
          <a:xfrm>
            <a:off x="2331720" y="5102352"/>
            <a:ext cx="3200400" cy="7772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10 presets in a real browser on the live LLM</a:t>
            </a:r>
            <a:endParaRPr lang="en-US" sz="1300" dirty="0"/>
          </a:p>
        </p:txBody>
      </p:sp>
      <p:sp>
        <p:nvSpPr>
          <p:cNvPr id="18" name="txt-209"/>
          <p:cNvSpPr txBox="1"/>
          <p:nvPr/>
        </p:nvSpPr>
        <p:spPr>
          <a:xfrm>
            <a:off x="6126480" y="1325880"/>
            <a:ext cx="5486400" cy="4572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Fixed in final testing</a:t>
            </a:r>
            <a:endParaRPr lang="en-US" sz="1800" dirty="0"/>
          </a:p>
        </p:txBody>
      </p:sp>
      <p:sp>
        <p:nvSpPr>
          <p:cNvPr id="19" name="txt-210"/>
          <p:cNvSpPr txBox="1"/>
          <p:nvPr/>
        </p:nvSpPr>
        <p:spPr>
          <a:xfrm>
            <a:off x="6126480" y="1828800"/>
            <a:ext cx="5516575"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Pro-rata deduction could exceed the claim → negative admissible, wrong rejection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Missing-data review request lost → ₹0 auto-rejection instead of referral</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LLM cache keyed on a prompt prefix could reuse one claim's verdict for another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One LLM call per rule hit free-tier limits → batched screening</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Repeated trace rows, misleading UI labels, a flaky test</a:t>
            </a:r>
            <a:endParaRPr lang="en-US" sz="1500" dirty="0"/>
          </a:p>
          <a:p>
            <a:pPr indent="0" marL="0">
              <a:spcAft>
                <a:spcPts val="800"/>
              </a:spcAft>
              <a:buNone/>
            </a:pPr>
            <a:r>
              <a:rPr lang="en-US" sz="1500" i="1" dirty="0">
                <a:solidFill>
                  <a:srgbClr val="6A4C93"/>
                </a:solidFill>
                <a:latin typeface="Calibri" pitchFamily="34" charset="0"/>
                <a:ea typeface="Calibri" pitchFamily="34" charset="-122"/>
                <a:cs typeface="Calibri" pitchFamily="34" charset="-120"/>
              </a:rPr>
              <a:t>Each fix has a regression test that fails on the old code</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Challenges and what I learnt</a:t>
            </a:r>
            <a:endParaRPr lang="en-US" sz="3200" dirty="0"/>
          </a:p>
        </p:txBody>
      </p:sp>
      <p:sp>
        <p:nvSpPr>
          <p:cNvPr id="3" name="card-211"/>
          <p:cNvSpPr/>
          <p:nvPr/>
        </p:nvSpPr>
        <p:spPr>
          <a:xfrm>
            <a:off x="548640" y="1417320"/>
            <a:ext cx="5349240" cy="2057400"/>
          </a:xfrm>
          <a:prstGeom prst="roundRect">
            <a:avLst>
              <a:gd name="adj" fmla="val 5333"/>
            </a:avLst>
          </a:prstGeom>
          <a:solidFill>
            <a:schemeClr val="bg2"/>
          </a:solidFill>
          <a:ln w="12700">
            <a:solidFill>
              <a:schemeClr val="bg2"/>
            </a:solidFill>
            <a:prstDash val="solid"/>
          </a:ln>
        </p:spPr>
      </p:sp>
      <p:sp>
        <p:nvSpPr>
          <p:cNvPr id="4" name="dot-212"/>
          <p:cNvSpPr/>
          <p:nvPr/>
        </p:nvSpPr>
        <p:spPr>
          <a:xfrm>
            <a:off x="822960" y="1737360"/>
            <a:ext cx="594360" cy="594360"/>
          </a:xfrm>
          <a:prstGeom prst="ellipse">
            <a:avLst/>
          </a:prstGeom>
          <a:solidFill>
            <a:schemeClr val="accent2"/>
          </a:solidFill>
          <a:ln w="12700">
            <a:solidFill>
              <a:schemeClr val="accent2"/>
            </a:solidFill>
            <a:prstDash val="solid"/>
          </a:ln>
        </p:spPr>
      </p:sp>
      <p:sp>
        <p:nvSpPr>
          <p:cNvPr id="5" name="txt-213"/>
          <p:cNvSpPr txBox="1"/>
          <p:nvPr/>
        </p:nvSpPr>
        <p:spPr>
          <a:xfrm>
            <a:off x="822960" y="17373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txt-214"/>
          <p:cNvSpPr txBox="1"/>
          <p:nvPr/>
        </p:nvSpPr>
        <p:spPr>
          <a:xfrm>
            <a:off x="1600200" y="1737360"/>
            <a:ext cx="406908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Prose to rules</a:t>
            </a:r>
            <a:endParaRPr lang="en-US" sz="1900" dirty="0"/>
          </a:p>
        </p:txBody>
      </p:sp>
      <p:sp>
        <p:nvSpPr>
          <p:cNvPr id="7" name="txt-215"/>
          <p:cNvSpPr txBox="1"/>
          <p:nvPr/>
        </p:nvSpPr>
        <p:spPr>
          <a:xfrm>
            <a:off x="1600200" y="2331720"/>
            <a:ext cx="406908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Clauses have exceptions and cross-references; each needed careful reading and mentor review</a:t>
            </a:r>
            <a:endParaRPr lang="en-US" sz="1500" dirty="0"/>
          </a:p>
        </p:txBody>
      </p:sp>
      <p:sp>
        <p:nvSpPr>
          <p:cNvPr id="8" name="card-216"/>
          <p:cNvSpPr/>
          <p:nvPr/>
        </p:nvSpPr>
        <p:spPr>
          <a:xfrm>
            <a:off x="6172200" y="1417320"/>
            <a:ext cx="5349240" cy="2057400"/>
          </a:xfrm>
          <a:prstGeom prst="roundRect">
            <a:avLst>
              <a:gd name="adj" fmla="val 5333"/>
            </a:avLst>
          </a:prstGeom>
          <a:solidFill>
            <a:schemeClr val="bg2"/>
          </a:solidFill>
          <a:ln w="12700">
            <a:solidFill>
              <a:schemeClr val="bg2"/>
            </a:solidFill>
            <a:prstDash val="solid"/>
          </a:ln>
        </p:spPr>
      </p:sp>
      <p:sp>
        <p:nvSpPr>
          <p:cNvPr id="9" name="dot-217"/>
          <p:cNvSpPr/>
          <p:nvPr/>
        </p:nvSpPr>
        <p:spPr>
          <a:xfrm>
            <a:off x="6446520" y="1737360"/>
            <a:ext cx="594360" cy="594360"/>
          </a:xfrm>
          <a:prstGeom prst="ellipse">
            <a:avLst/>
          </a:prstGeom>
          <a:solidFill>
            <a:schemeClr val="accent4"/>
          </a:solidFill>
          <a:ln w="12700">
            <a:solidFill>
              <a:schemeClr val="accent4"/>
            </a:solidFill>
            <a:prstDash val="solid"/>
          </a:ln>
        </p:spPr>
      </p:sp>
      <p:sp>
        <p:nvSpPr>
          <p:cNvPr id="10" name="txt-218"/>
          <p:cNvSpPr txBox="1"/>
          <p:nvPr/>
        </p:nvSpPr>
        <p:spPr>
          <a:xfrm>
            <a:off x="6446520" y="17373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1" name="txt-219"/>
          <p:cNvSpPr txBox="1"/>
          <p:nvPr/>
        </p:nvSpPr>
        <p:spPr>
          <a:xfrm>
            <a:off x="7223760" y="1737360"/>
            <a:ext cx="406908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Taming the LLM</a:t>
            </a:r>
            <a:endParaRPr lang="en-US" sz="1900" dirty="0"/>
          </a:p>
        </p:txBody>
      </p:sp>
      <p:sp>
        <p:nvSpPr>
          <p:cNvPr id="12" name="txt-220"/>
          <p:cNvSpPr txBox="1"/>
          <p:nvPr/>
        </p:nvSpPr>
        <p:spPr>
          <a:xfrm>
            <a:off x="7223760" y="2331720"/>
            <a:ext cx="406908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Output contracts, validation and fallbacks matter more than the prompt wording</a:t>
            </a:r>
            <a:endParaRPr lang="en-US" sz="1500" dirty="0"/>
          </a:p>
        </p:txBody>
      </p:sp>
      <p:sp>
        <p:nvSpPr>
          <p:cNvPr id="13" name="card-221"/>
          <p:cNvSpPr/>
          <p:nvPr/>
        </p:nvSpPr>
        <p:spPr>
          <a:xfrm>
            <a:off x="548640" y="3749040"/>
            <a:ext cx="5349240" cy="2057400"/>
          </a:xfrm>
          <a:prstGeom prst="roundRect">
            <a:avLst>
              <a:gd name="adj" fmla="val 5333"/>
            </a:avLst>
          </a:prstGeom>
          <a:solidFill>
            <a:schemeClr val="bg2"/>
          </a:solidFill>
          <a:ln w="12700">
            <a:solidFill>
              <a:schemeClr val="bg2"/>
            </a:solidFill>
            <a:prstDash val="solid"/>
          </a:ln>
        </p:spPr>
      </p:sp>
      <p:sp>
        <p:nvSpPr>
          <p:cNvPr id="14" name="dot-222"/>
          <p:cNvSpPr/>
          <p:nvPr/>
        </p:nvSpPr>
        <p:spPr>
          <a:xfrm>
            <a:off x="822960" y="4069080"/>
            <a:ext cx="594360" cy="594360"/>
          </a:xfrm>
          <a:prstGeom prst="ellipse">
            <a:avLst/>
          </a:prstGeom>
          <a:solidFill>
            <a:schemeClr val="accent1"/>
          </a:solidFill>
          <a:ln w="12700">
            <a:solidFill>
              <a:schemeClr val="accent1"/>
            </a:solidFill>
            <a:prstDash val="solid"/>
          </a:ln>
        </p:spPr>
      </p:sp>
      <p:sp>
        <p:nvSpPr>
          <p:cNvPr id="15" name="txt-223"/>
          <p:cNvSpPr txBox="1"/>
          <p:nvPr/>
        </p:nvSpPr>
        <p:spPr>
          <a:xfrm>
            <a:off x="822960" y="40690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6" name="txt-224"/>
          <p:cNvSpPr txBox="1"/>
          <p:nvPr/>
        </p:nvSpPr>
        <p:spPr>
          <a:xfrm>
            <a:off x="1600200" y="4069080"/>
            <a:ext cx="406908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State and concurrency</a:t>
            </a:r>
            <a:endParaRPr lang="en-US" sz="1900" dirty="0"/>
          </a:p>
        </p:txBody>
      </p:sp>
      <p:sp>
        <p:nvSpPr>
          <p:cNvPr id="17" name="txt-225"/>
          <p:cNvSpPr txBox="1"/>
          <p:nvPr/>
        </p:nvSpPr>
        <p:spPr>
          <a:xfrm>
            <a:off x="1600200" y="4663440"/>
            <a:ext cx="406908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Lifetime features need persisted state; parallel rules exposed shared-state bugs</a:t>
            </a:r>
            <a:endParaRPr lang="en-US" sz="1500" dirty="0"/>
          </a:p>
        </p:txBody>
      </p:sp>
      <p:sp>
        <p:nvSpPr>
          <p:cNvPr id="18" name="card-226"/>
          <p:cNvSpPr/>
          <p:nvPr/>
        </p:nvSpPr>
        <p:spPr>
          <a:xfrm>
            <a:off x="6172200" y="3749040"/>
            <a:ext cx="5349240" cy="2057400"/>
          </a:xfrm>
          <a:prstGeom prst="roundRect">
            <a:avLst>
              <a:gd name="adj" fmla="val 5333"/>
            </a:avLst>
          </a:prstGeom>
          <a:solidFill>
            <a:schemeClr val="bg2"/>
          </a:solidFill>
          <a:ln w="12700">
            <a:solidFill>
              <a:schemeClr val="bg2"/>
            </a:solidFill>
            <a:prstDash val="solid"/>
          </a:ln>
        </p:spPr>
      </p:sp>
      <p:sp>
        <p:nvSpPr>
          <p:cNvPr id="19" name="dot-227"/>
          <p:cNvSpPr/>
          <p:nvPr/>
        </p:nvSpPr>
        <p:spPr>
          <a:xfrm>
            <a:off x="6446520" y="4069080"/>
            <a:ext cx="594360" cy="594360"/>
          </a:xfrm>
          <a:prstGeom prst="ellipse">
            <a:avLst/>
          </a:prstGeom>
          <a:solidFill>
            <a:schemeClr val="accent5"/>
          </a:solidFill>
          <a:ln w="12700">
            <a:solidFill>
              <a:schemeClr val="accent5"/>
            </a:solidFill>
            <a:prstDash val="solid"/>
          </a:ln>
        </p:spPr>
      </p:sp>
      <p:sp>
        <p:nvSpPr>
          <p:cNvPr id="20" name="txt-228"/>
          <p:cNvSpPr txBox="1"/>
          <p:nvPr/>
        </p:nvSpPr>
        <p:spPr>
          <a:xfrm>
            <a:off x="6446520" y="40690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1" name="txt-229"/>
          <p:cNvSpPr txBox="1"/>
          <p:nvPr/>
        </p:nvSpPr>
        <p:spPr>
          <a:xfrm>
            <a:off x="7223760" y="4069080"/>
            <a:ext cx="4069080" cy="548640"/>
          </a:xfrm>
          <a:prstGeom prst="rect">
            <a:avLst/>
          </a:prstGeom>
          <a:noFill/>
          <a:ln/>
        </p:spPr>
        <p:txBody>
          <a:bodyPr wrap="square" lIns="0" tIns="0" rIns="0" bIns="0" rtlCol="0" anchor="ctr"/>
          <a:lstStyle/>
          <a:p>
            <a:pPr indent="0" marL="0">
              <a:buNone/>
            </a:pPr>
            <a:r>
              <a:rPr lang="en-US" sz="1900" b="1" dirty="0">
                <a:solidFill>
                  <a:schemeClr val="tx2"/>
                </a:solidFill>
                <a:latin typeface="Calibri" pitchFamily="34" charset="0"/>
                <a:ea typeface="Calibri" pitchFamily="34" charset="-122"/>
                <a:cs typeface="Calibri" pitchFamily="34" charset="-120"/>
              </a:rPr>
              <a:t>Test like a user</a:t>
            </a:r>
            <a:endParaRPr lang="en-US" sz="1900" dirty="0"/>
          </a:p>
        </p:txBody>
      </p:sp>
      <p:sp>
        <p:nvSpPr>
          <p:cNvPr id="22" name="txt-230"/>
          <p:cNvSpPr txBox="1"/>
          <p:nvPr/>
        </p:nvSpPr>
        <p:spPr>
          <a:xfrm>
            <a:off x="7223760" y="4663440"/>
            <a:ext cx="406908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End-to-end scenarios and trace reading caught what unit tests missed</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Conclusion and next steps</a:t>
            </a:r>
            <a:endParaRPr lang="en-US" sz="3200" dirty="0"/>
          </a:p>
        </p:txBody>
      </p:sp>
      <p:sp>
        <p:nvSpPr>
          <p:cNvPr id="3" name="txt-231"/>
          <p:cNvSpPr txBox="1"/>
          <p:nvPr/>
        </p:nvSpPr>
        <p:spPr>
          <a:xfrm>
            <a:off x="548640" y="1554480"/>
            <a:ext cx="5303520" cy="4480560"/>
          </a:xfrm>
          <a:prstGeom prst="rect">
            <a:avLst/>
          </a:prstGeom>
          <a:noFill/>
          <a:ln/>
        </p:spPr>
        <p:txBody>
          <a:bodyPr wrap="square" lIns="0" tIns="0" rIns="0" bIns="0" rtlCol="0" anchor="t"/>
          <a:lstStyle/>
          <a:p>
            <a:pPr indent="0" marL="0">
              <a:spcAft>
                <a:spcPts val="1600"/>
              </a:spcAft>
              <a:buNone/>
            </a:pPr>
            <a:r>
              <a:rPr lang="en-US" sz="2000" b="1" dirty="0">
                <a:solidFill>
                  <a:srgbClr val="E08E0B"/>
                </a:solidFill>
                <a:latin typeface="Calibri" pitchFamily="34" charset="0"/>
                <a:ea typeface="Calibri" pitchFamily="34" charset="-122"/>
                <a:cs typeface="Calibri" pitchFamily="34" charset="-120"/>
              </a:rPr>
              <a:t>Delivered</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92 rules, 7 gates, exact money, LLM only for language</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Safe routing to four human queues; full audit trail</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Cloud, on-premise and offline modes; live streaming console</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77 tests; 10 scenarios verified on the live LLM</a:t>
            </a:r>
            <a:endParaRPr lang="en-US" sz="2000" dirty="0"/>
          </a:p>
        </p:txBody>
      </p:sp>
      <p:sp>
        <p:nvSpPr>
          <p:cNvPr id="4" name="txt-232"/>
          <p:cNvSpPr txBox="1"/>
          <p:nvPr/>
        </p:nvSpPr>
        <p:spPr>
          <a:xfrm>
            <a:off x="6309360" y="1554480"/>
            <a:ext cx="5303520" cy="4480560"/>
          </a:xfrm>
          <a:prstGeom prst="rect">
            <a:avLst/>
          </a:prstGeom>
          <a:noFill/>
          <a:ln/>
        </p:spPr>
        <p:txBody>
          <a:bodyPr wrap="square" lIns="0" tIns="0" rIns="0" bIns="0" rtlCol="0" anchor="t"/>
          <a:lstStyle/>
          <a:p>
            <a:pPr indent="0" marL="0">
              <a:spcAft>
                <a:spcPts val="1600"/>
              </a:spcAft>
              <a:buNone/>
            </a:pPr>
            <a:r>
              <a:rPr lang="en-US" sz="2000" b="1" dirty="0">
                <a:solidFill>
                  <a:srgbClr val="E08E0B"/>
                </a:solidFill>
                <a:latin typeface="Calibri" pitchFamily="34" charset="0"/>
                <a:ea typeface="Calibri" pitchFamily="34" charset="-122"/>
                <a:cs typeface="Calibri" pitchFamily="34" charset="-120"/>
              </a:rPr>
              <a:t>Next</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Connect to live policy and member systems</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Finish PAS reconciliation</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Measure agreement with human processors on historical claims; calibrate thresholds</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Reviewer workbench feeding decisions back</a:t>
            </a:r>
            <a:endParaRPr lang="en-US" sz="2000" dirty="0"/>
          </a:p>
          <a:p>
            <a:pPr marL="342900" indent="-342900">
              <a:spcAft>
                <a:spcPts val="1600"/>
              </a:spcAft>
              <a:buSzPct val="100000"/>
              <a:buChar char="•"/>
            </a:pPr>
            <a:r>
              <a:rPr lang="en-US" sz="2000" dirty="0">
                <a:solidFill>
                  <a:srgbClr val="FFFFFF"/>
                </a:solidFill>
                <a:latin typeface="Calibri" pitchFamily="34" charset="0"/>
                <a:ea typeface="Calibri" pitchFamily="34" charset="-122"/>
                <a:cs typeface="Calibri" pitchFamily="34" charset="-120"/>
              </a:rPr>
              <a:t>Host the model in-house on a GPU server</a:t>
            </a:r>
            <a:endParaRPr lang="en-US" sz="20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686800" cy="17373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3703320"/>
            <a:ext cx="8686800" cy="1097280"/>
          </a:xfrm>
          <a:prstGeom prst="rect">
            <a:avLst/>
          </a:prstGeom>
          <a:noFill/>
          <a:ln/>
        </p:spPr>
        <p:txBody>
          <a:bodyPr wrap="square" lIns="0" tIns="0" rIns="0" bIns="0" rtlCol="0" anchor="t"/>
          <a:lstStyle/>
          <a:p>
            <a:pPr indent="0" marL="0">
              <a:buNone/>
            </a:pPr>
            <a:r>
              <a:rPr lang="en-US" sz="2000" dirty="0">
                <a:solidFill>
                  <a:srgbClr val="CADCFC"/>
                </a:solidFill>
              </a:rPr>
              <a:t>Questions and live demo</a:t>
            </a:r>
            <a:endParaRPr lang="en-US" sz="2000" dirty="0"/>
          </a:p>
        </p:txBody>
      </p:sp>
      <p:sp>
        <p:nvSpPr>
          <p:cNvPr id="4" name="dot-233"/>
          <p:cNvSpPr/>
          <p:nvPr/>
        </p:nvSpPr>
        <p:spPr>
          <a:xfrm>
            <a:off x="9966960" y="2103120"/>
            <a:ext cx="1554480" cy="1554480"/>
          </a:xfrm>
          <a:prstGeom prst="ellipse">
            <a:avLst/>
          </a:prstGeom>
          <a:solidFill>
            <a:schemeClr val="accent2"/>
          </a:solidFill>
          <a:ln w="12700">
            <a:solidFill>
              <a:schemeClr val="accent2"/>
            </a:solidFill>
            <a:prstDash val="solid"/>
          </a:ln>
        </p:spPr>
      </p:sp>
      <p:sp>
        <p:nvSpPr>
          <p:cNvPr id="5" name="txt-234"/>
          <p:cNvSpPr txBox="1"/>
          <p:nvPr/>
        </p:nvSpPr>
        <p:spPr>
          <a:xfrm>
            <a:off x="9966960" y="2103120"/>
            <a:ext cx="1554480" cy="1554480"/>
          </a:xfrm>
          <a:prstGeom prst="rect">
            <a:avLst/>
          </a:prstGeom>
          <a:noFill/>
          <a:ln/>
        </p:spPr>
        <p:txBody>
          <a:bodyPr wrap="square" lIns="0" tIns="0" rIns="0" bIns="0" rtlCol="0" anchor="ctr"/>
          <a:lstStyle/>
          <a:p>
            <a:pPr algn="ctr" indent="0" marL="0">
              <a:buNone/>
            </a:pPr>
            <a:r>
              <a:rPr lang="en-US" sz="6000" b="1" dirty="0">
                <a:solidFill>
                  <a:schemeClr val="bg1"/>
                </a:solidFill>
                <a:latin typeface="Calibri" pitchFamily="34" charset="0"/>
                <a:ea typeface="Calibri" pitchFamily="34" charset="-122"/>
                <a:cs typeface="Calibri" pitchFamily="34" charset="-120"/>
              </a:rPr>
              <a:t>?</a:t>
            </a:r>
            <a:endParaRPr lang="en-US" sz="6000" dirty="0"/>
          </a:p>
        </p:txBody>
      </p:sp>
    </p:spTree>
  </p:cSld>
  <p:clrMapOvr>
    <a:masterClrMapping/>
  </p:clrMapOvr>
</p:sld>
</file>

<file path=ppt/theme/theme1.xml><?xml version="1.0" encoding="utf-8"?>
<a:theme xmlns:a="http://schemas.openxmlformats.org/drawingml/2006/main" name="Claims Engine">
  <a:themeElements>
    <a:clrScheme name="Claims Engine">
      <a:dk1>
        <a:srgbClr val="1F2937"/>
      </a:dk1>
      <a:lt1>
        <a:srgbClr val="FFFFFF"/>
      </a:lt1>
      <a:dk2>
        <a:srgbClr val="1B2A4A"/>
      </a:dk2>
      <a:lt2>
        <a:srgbClr val="EEF2F6"/>
      </a:lt2>
      <a:accent1>
        <a:srgbClr val="00897B"/>
      </a:accent1>
      <a:accent2>
        <a:srgbClr val="E08E0B"/>
      </a:accent2>
      <a:accent3>
        <a:srgbClr val="C62828"/>
      </a:accent3>
      <a:accent4>
        <a:srgbClr val="6A4C93"/>
      </a:accent4>
      <a:accent5>
        <a:srgbClr val="2E7D32"/>
      </a:accent5>
      <a:accent6>
        <a:srgbClr val="546E7A"/>
      </a:accent6>
      <a:hlink>
        <a:srgbClr val="00897B"/>
      </a:hlink>
      <a:folHlink>
        <a:srgbClr val="6A4C93"/>
      </a:folHlink>
    </a:clrScheme>
    <a:fontScheme name="Claims Eng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 Auto-Adjudication Engine</dc:title>
  <dc:subject>PptxGenJS Presentation</dc:subject>
  <dc:creator>[YOUR NAME]</dc:creator>
  <cp:lastModifiedBy>[YOUR NAME]</cp:lastModifiedBy>
  <cp:revision>1</cp:revision>
  <dcterms:created xsi:type="dcterms:W3CDTF">2026-10-27T10:06:55Z</dcterms:created>
  <dcterms:modified xsi:type="dcterms:W3CDTF">2026-10-27T10:06:55Z</dcterms:modified>
</cp:coreProperties>
</file>